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</p:sldIdLst>
  <p:notesMasterIdLst>
    <p:notesMasterId r:id="rId5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notesMaster" Target="notesMasters/notesMaster1.xml"/><Relationship Id="rId55" Type="http://schemas.openxmlformats.org/officeDocument/2006/relationships/presProps" Target="presProps.xml"/><Relationship Id="rId56" Type="http://schemas.openxmlformats.org/officeDocument/2006/relationships/viewProps" Target="viewProps.xml"/><Relationship Id="rId57" Type="http://schemas.openxmlformats.org/officeDocument/2006/relationships/theme" Target="theme/theme1.xml"/><Relationship Id="rId5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066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49174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Webページから情報を取り出してみよう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40080" y="372618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はじめてのプログラミング / スクレイピング体験</a:t>
            </a:r>
            <a:endParaRPr lang="en-US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きょうのゴール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560320"/>
            <a:ext cx="10881360" cy="586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Webページに並んでいる </a:t>
            </a:r>
            <a:pPr indent="0" marL="0">
              <a:buNone/>
            </a:pPr>
            <a:r>
              <a:rPr lang="en-US" sz="28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30個の商品の名前と値段</a:t>
            </a:r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を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3292856"/>
            <a:ext cx="10881360" cy="586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プログラムに読ませて、</a:t>
            </a:r>
            <a:pPr indent="0" marL="0">
              <a:buNone/>
            </a:pPr>
            <a:r>
              <a:rPr lang="en-US" sz="28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一瞬で</a:t>
            </a:r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全部並べます。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40080" y="4025392"/>
            <a:ext cx="91440" cy="660654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4025392"/>
            <a:ext cx="10607040" cy="66065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700" dirty="0">
                <a:solidFill>
                  <a:srgbClr val="3F3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手で写したら10分。プログラムなら1秒。</a:t>
            </a:r>
            <a:endParaRPr lang="en-US" sz="2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覚えることは、たった3つ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225548"/>
          <a:ext cx="10881360" cy="914400"/>
        </p:xfrm>
        <a:graphic>
          <a:graphicData uri="http://schemas.openxmlformats.org/drawingml/2006/table">
            <a:tbl>
              <a:tblPr/>
              <a:tblGrid>
                <a:gridCol w="903942"/>
                <a:gridCol w="3897429"/>
                <a:gridCol w="6079989"/>
              </a:tblGrid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やること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使うもの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取ってくる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requests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分解する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BeautifulSoup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探す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find / find_all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4355084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これだけです。文法は覚えなくて大丈夫。</a:t>
            </a: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640080" y="5019548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「動いた」を積み重ねるのが今日の目的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です。</a:t>
            </a:r>
            <a:endParaRPr lang="en-US" sz="2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きょうの道具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Text 2"/>
          <p:cNvSpPr/>
          <p:nvPr/>
        </p:nvSpPr>
        <p:spPr>
          <a:xfrm>
            <a:off x="960120" y="2409444"/>
            <a:ext cx="10561320" cy="8717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Char char="●"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Google Colaboratory（Colab）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ブラウザだけで Python が動く。インストール不要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960120" y="3317748"/>
            <a:ext cx="10561320" cy="46329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Char char="●"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requests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ページを取ってくる係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960120" y="3817620"/>
            <a:ext cx="10561320" cy="8717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Char char="●"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BeautifulSoup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取ってきたページをバラバラに分解して、探しやすくする係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40080" y="4835652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準備はゼロ。ノートブックを開くだけです。</a:t>
            </a:r>
            <a:endParaRPr lang="en-US" sz="2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41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4003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B45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第1部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640080" y="36347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Webページの正体</a:t>
            </a:r>
            <a:endParaRPr lang="en-US" sz="2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ブラウザが見せているもの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031492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みんながいつも見ているのは、こういう画面ですね。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960120" y="2695956"/>
            <a:ext cx="10561320" cy="46329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Char char="●"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見出しがあって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960120" y="3195828"/>
            <a:ext cx="10561320" cy="46329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Char char="●"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写真があって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960120" y="3695700"/>
            <a:ext cx="10561320" cy="46329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Char char="●"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文章があって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60120" y="4195572"/>
            <a:ext cx="10561320" cy="46329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Char char="●"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押すと飛ぶリンクがある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40080" y="4805172"/>
            <a:ext cx="10881360" cy="9265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でも、コンピュータはこれを「絵」として持っているわけではありません。</a:t>
            </a:r>
            <a:endParaRPr lang="en-US" sz="2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正体は、ぜんぶ「文字」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560320"/>
            <a:ext cx="10881360" cy="586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Webページは、</a:t>
            </a:r>
            <a:pPr indent="0" marL="0">
              <a:buNone/>
            </a:pPr>
            <a:r>
              <a:rPr lang="en-US" sz="28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全部が文字で書かれた設計図</a:t>
            </a:r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です。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3292856"/>
            <a:ext cx="10881360" cy="106273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ブラウザは、その設計図を読んで</a:t>
            </a:r>
            <a:endParaRPr lang="en-US" sz="2800" dirty="0"/>
          </a:p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「じゃあこう表示しよう」と絵にしてくれているだけ。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4501896"/>
            <a:ext cx="10881360" cy="586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その設計図の名前が HTML です。</a:t>
            </a:r>
            <a:endParaRPr lang="en-US" sz="2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HTML を見てみると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2147062"/>
            <a:ext cx="10881360" cy="955040"/>
          </a:xfrm>
          <a:prstGeom prst="roundRect">
            <a:avLst>
              <a:gd name="adj" fmla="val 5745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284222"/>
            <a:ext cx="10552176" cy="680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&lt;h1&gt;サイバー購買部&lt;/h1&gt;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&lt;p&gt;きょうの商品ラインナップ&lt;/p&gt;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3284982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これがブラウザではこう見えます。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640080" y="3949446"/>
            <a:ext cx="91440" cy="983996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3949446"/>
            <a:ext cx="10607040" cy="9839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300" dirty="0">
                <a:solidFill>
                  <a:srgbClr val="3F3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# サイバー購買部</a:t>
            </a:r>
            <a:endParaRPr lang="en-US" sz="2300" dirty="0"/>
          </a:p>
          <a:p>
            <a:pPr indent="0" marL="0">
              <a:buNone/>
            </a:pPr>
            <a:r>
              <a:rPr lang="en-US" sz="2300" dirty="0">
                <a:solidFill>
                  <a:srgbClr val="3F3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きょうの商品ラインナップ</a:t>
            </a:r>
            <a:endParaRPr lang="en-US" sz="2300" dirty="0"/>
          </a:p>
        </p:txBody>
      </p:sp>
      <p:sp>
        <p:nvSpPr>
          <p:cNvPr id="9" name="Text 7"/>
          <p:cNvSpPr/>
          <p:nvPr/>
        </p:nvSpPr>
        <p:spPr>
          <a:xfrm>
            <a:off x="640080" y="5098034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同じものです。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書き方が違うだけ。</a:t>
            </a:r>
            <a:endParaRPr lang="en-US" sz="2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タグ＝「ここは○○ですよ」という印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2159000"/>
            <a:ext cx="10881360" cy="614680"/>
          </a:xfrm>
          <a:prstGeom prst="roundRect">
            <a:avLst>
              <a:gd name="adj" fmla="val 8926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296160"/>
            <a:ext cx="10552176" cy="340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&lt;h1&gt;サイバー購買部&lt;/h1&gt;</a:t>
            </a:r>
            <a:endParaRPr lang="en-US" sz="2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956560"/>
          <a:ext cx="10881360" cy="914400"/>
        </p:xfrm>
        <a:graphic>
          <a:graphicData uri="http://schemas.openxmlformats.org/drawingml/2006/table">
            <a:tbl>
              <a:tblPr/>
              <a:tblGrid>
                <a:gridCol w="3627120"/>
                <a:gridCol w="2072640"/>
                <a:gridCol w="5181600"/>
              </a:tblGrid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部分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名前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意味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&lt;h1&gt;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開始タグ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ここから見出しです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サイバー購買部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中身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実際に表示される文字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&lt;/h1&gt;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終了タグ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見出しはここまで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40080" y="5086096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 &gt;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で囲まれたものが 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タグ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。閉じるほうには 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`/`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が付きます。</a:t>
            </a:r>
            <a:endParaRPr lang="en-US" sz="2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タグの中に、タグが入る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2048764"/>
            <a:ext cx="10881360" cy="1635760"/>
          </a:xfrm>
          <a:prstGeom prst="roundRect">
            <a:avLst>
              <a:gd name="adj" fmla="val 3354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185924"/>
            <a:ext cx="10552176" cy="1361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&lt;div&gt;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&lt;h2&gt;メロンパン&lt;/h2&gt;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&lt;p&gt;150円&lt;/p&gt;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&lt;/div&gt;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3867404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箱の中に、箱が入っている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イメージです。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40080" y="4531868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これを 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入れ子（いれこ）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と呼びます。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40080" y="5196332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今日はこの「箱」を目印にして、ほしいものを探します。</a:t>
            </a:r>
            <a:endParaRPr lang="en-US" sz="2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きょう出てくるタグ ①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353564"/>
          <a:ext cx="10881360" cy="914400"/>
        </p:xfrm>
        <a:graphic>
          <a:graphicData uri="http://schemas.openxmlformats.org/drawingml/2006/table">
            <a:tbl>
              <a:tblPr/>
              <a:tblGrid>
                <a:gridCol w="1919000"/>
                <a:gridCol w="2635988"/>
                <a:gridCol w="6326372"/>
              </a:tblGrid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タグ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読み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何を表すか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&lt;title&gt;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タイトル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ブラウザのタブに出る名前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&lt;h1&gt;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エイチワン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ページで一番大きい見出し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&lt;h2&gt;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エイチツー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その次の見出し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4483100"/>
            <a:ext cx="10881360" cy="9265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h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は 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heading（見出し）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の h。</a:t>
            </a:r>
            <a:endParaRPr lang="en-US" sz="2400" dirty="0"/>
          </a:p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数字が小さいほど大きい見出しです。</a:t>
            </a:r>
            <a:endParaRPr lang="en-US" sz="2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8A4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&lt;title&gt;</a:t>
            </a:r>
            <a:pPr indent="0" marL="0">
              <a:buNone/>
            </a:pPr>
            <a:r>
              <a:rPr lang="en-US" sz="40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と </a:t>
            </a:r>
            <a:pPr indent="0" marL="0">
              <a:buNone/>
            </a:pPr>
            <a:r>
              <a:rPr lang="en-US" sz="4000" b="1" dirty="0">
                <a:solidFill>
                  <a:srgbClr val="8A4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&lt;h1&gt;</a:t>
            </a:r>
            <a:pPr indent="0" marL="0">
              <a:buNone/>
            </a:pPr>
            <a:r>
              <a:rPr lang="en-US" sz="40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はちがう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349754"/>
          <a:ext cx="10881360" cy="914400"/>
        </p:xfrm>
        <a:graphic>
          <a:graphicData uri="http://schemas.openxmlformats.org/drawingml/2006/table">
            <a:tbl>
              <a:tblPr/>
              <a:tblGrid>
                <a:gridCol w="1787371"/>
                <a:gridCol w="3437253"/>
                <a:gridCol w="5656736"/>
              </a:tblGrid>
              <a:tr h="5207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2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出る場所</a:t>
                      </a:r>
                      <a:endParaRPr lang="en-US" sz="2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購買部サイトでは</a:t>
                      </a:r>
                      <a:endParaRPr lang="en-US" sz="2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</a:tr>
              <a:tr h="5207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&lt;title&gt;</a:t>
                      </a:r>
                      <a:endParaRPr lang="en-US" sz="2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ブラウザのタブ</a:t>
                      </a:r>
                      <a:endParaRPr lang="en-US" sz="2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サイバー購買部 商品一覧</a:t>
                      </a:r>
                      <a:endParaRPr lang="en-US" sz="2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07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&lt;h1&gt;</a:t>
                      </a:r>
                      <a:endParaRPr lang="en-US" sz="2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ページの中</a:t>
                      </a:r>
                      <a:endParaRPr lang="en-US" sz="2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サイバー購買部</a:t>
                      </a:r>
                      <a:endParaRPr lang="en-US" sz="2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4094734"/>
            <a:ext cx="10881360" cy="586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同じページなのに、中身が違います。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640080" y="4827270"/>
            <a:ext cx="10881360" cy="586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あとで実際に両方取って、違いを確かめます。</a:t>
            </a:r>
            <a:endParaRPr lang="en-US" sz="2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きょう出てくるタグ ②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353564"/>
          <a:ext cx="10881360" cy="914400"/>
        </p:xfrm>
        <a:graphic>
          <a:graphicData uri="http://schemas.openxmlformats.org/drawingml/2006/table">
            <a:tbl>
              <a:tblPr/>
              <a:tblGrid>
                <a:gridCol w="1534803"/>
                <a:gridCol w="1475772"/>
                <a:gridCol w="7870785"/>
              </a:tblGrid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タグ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読み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何を表すか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&lt;p&gt;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ピー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段落。ふつうの文章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&lt;div&gt;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ディブ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ただの箱。まとめるための入れもの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&lt;span&gt;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スパン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文の中の一部分を囲む小さい印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4483100"/>
            <a:ext cx="10881360" cy="9265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p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は 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paragraph（段落）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
</a:t>
            </a:r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div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は 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division（区切り）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endParaRPr lang="en-US" sz="2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&lt;div&gt;</a:t>
            </a:r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は「箱」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1463040"/>
            <a:ext cx="10881360" cy="2861056"/>
          </a:xfrm>
          <a:prstGeom prst="roundRect">
            <a:avLst>
              <a:gd name="adj" fmla="val 1918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600200"/>
            <a:ext cx="10552176" cy="25867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&lt;div&gt;</a:t>
            </a: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&lt;h2&gt;メロンパン&lt;/h2&gt;</a:t>
            </a: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&lt;p&gt;150円&lt;/p&gt;</a:t>
            </a: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&lt;/div&gt;</a:t>
            </a: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&lt;div&gt;</a:t>
            </a: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&lt;h2&gt;焼きそばパン&lt;/h2&gt;</a:t>
            </a: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&lt;p&gt;180円&lt;/p&gt;</a:t>
            </a: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&lt;/div&gt;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640080" y="4506976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div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自体は何も表示しません。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40080" y="5171440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「ここからここまでが1セット」とまとめるだけ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です。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40080" y="5835904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商品1つ分 = </a:t>
            </a:r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div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1つ。今日いちばん大事な考え方です。</a:t>
            </a:r>
            <a:endParaRPr lang="en-US" sz="2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&lt;span&gt;</a:t>
            </a:r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は「文の中の一部」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2180717"/>
            <a:ext cx="10881360" cy="614680"/>
          </a:xfrm>
          <a:prstGeom prst="roundRect">
            <a:avLst>
              <a:gd name="adj" fmla="val 8926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317877"/>
            <a:ext cx="10552176" cy="340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&lt;p&gt;&lt;span&gt;150&lt;/span&gt;円&lt;/p&gt;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2978277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ブラウザには 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150円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と出ます。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40080" y="3642741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でも </a:t>
            </a:r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&lt;span&gt;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で囲んであるおかげで、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40080" y="4307205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「150 の部分だけ」を狙って取り出せる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ようになります。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640080" y="4971669"/>
            <a:ext cx="91440" cy="59258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4971669"/>
            <a:ext cx="10607040" cy="59258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300" dirty="0">
                <a:solidFill>
                  <a:srgbClr val="3F3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あとで効いてきます。覚えておいてください。</a:t>
            </a:r>
            <a:endParaRPr lang="en-US" sz="2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きょう出てくるタグ ③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2070100"/>
            <a:ext cx="10881360" cy="614680"/>
          </a:xfrm>
          <a:prstGeom prst="roundRect">
            <a:avLst>
              <a:gd name="adj" fmla="val 8926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207260"/>
            <a:ext cx="10552176" cy="340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&lt;a href="items/item01.html"&gt;くわしく見る&lt;/a&gt;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2867660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&lt;a&gt;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は 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リンク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（anchor＝いかり、の a）。</a:t>
            </a:r>
            <a:endParaRPr lang="en-US" sz="2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532124"/>
          <a:ext cx="10881360" cy="914400"/>
        </p:xfrm>
        <a:graphic>
          <a:graphicData uri="http://schemas.openxmlformats.org/drawingml/2006/table">
            <a:tbl>
              <a:tblPr/>
              <a:tblGrid>
                <a:gridCol w="4663440"/>
                <a:gridCol w="6217920"/>
              </a:tblGrid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部分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意味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くわしく見る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画面に出る文字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href="..."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飛び先のアドレス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40080" y="5174996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href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のような、タグに付ける追加情報を 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属性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といいます。</a:t>
            </a:r>
            <a:endParaRPr lang="en-US" sz="2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class ＝ 名札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1980692"/>
            <a:ext cx="10881360" cy="614680"/>
          </a:xfrm>
          <a:prstGeom prst="roundRect">
            <a:avLst>
              <a:gd name="adj" fmla="val 8926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117852"/>
            <a:ext cx="10552176" cy="340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&lt;h2 class="item-name"&gt;メロンパン&lt;/h2&gt;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2778252"/>
            <a:ext cx="10881360" cy="106273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&lt;h2&gt;</a:t>
            </a:r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はページ中にたくさんあります。</a:t>
            </a:r>
            <a:endParaRPr lang="en-US" sz="2800" dirty="0"/>
          </a:p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そのままだと「どの h2 ？」と区別がつきません。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40080" y="3987292"/>
            <a:ext cx="10881360" cy="586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そこで </a:t>
            </a:r>
            <a:pPr indent="0" marL="0">
              <a:buNone/>
            </a:pPr>
            <a:r>
              <a:rPr lang="en-US" sz="28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名札（class）</a:t>
            </a:r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を付けておきます。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640080" y="4719828"/>
            <a:ext cx="10881360" cy="106273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「item-name という名札の付いた h2 を全部持ってきて」</a:t>
            </a:r>
            <a:pPr indent="0" marL="0">
              <a:buNone/>
            </a:pPr>
            <a:endParaRPr lang="en-US" sz="2800" dirty="0"/>
          </a:p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と頼めるようになります。</a:t>
            </a:r>
            <a:endParaRPr lang="en-US" sz="2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商品1つ分の中身（これが今日の地図）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2262251"/>
            <a:ext cx="10881360" cy="2537714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399411"/>
            <a:ext cx="10552176" cy="226339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&lt;div class="item"&gt;</a:t>
            </a: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&lt;p  class="item-icon"&gt;🍈&lt;/p&gt;</a:t>
            </a: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&lt;h2 class="item-name"&gt;メロンパン&lt;/h2&gt;</a:t>
            </a: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&lt;p  class="item-category"&gt;パン&lt;/p&gt;</a:t>
            </a: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&lt;p  class="item-price-line"&gt;&lt;span class="item-price"&gt;150&lt;/span&gt;円&lt;/p&gt;</a:t>
            </a: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&lt;a  class="item-link" href="items/item01.html"&gt;くわしく見る&lt;/a&gt;</a:t>
            </a: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&lt;/div&gt;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640080" y="4982845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このかたまりが、30個くり返されています。</a:t>
            </a:r>
            <a:endParaRPr lang="en-US" sz="2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名札の一覧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160016"/>
          <a:ext cx="10881360" cy="914400"/>
        </p:xfrm>
        <a:graphic>
          <a:graphicData uri="http://schemas.openxmlformats.org/drawingml/2006/table">
            <a:tbl>
              <a:tblPr/>
              <a:tblGrid>
                <a:gridCol w="3095875"/>
                <a:gridCol w="5037667"/>
                <a:gridCol w="2747818"/>
              </a:tblGrid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class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中身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使うステップ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item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商品1つ分の箱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item-name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商品名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item-price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値段の数字だけ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item-category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カテゴリ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item-link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詳細ページへのリンク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item-stock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在庫（詳細ページだけ）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なぜ「150」と「円」が分けてある？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1980692"/>
            <a:ext cx="10881360" cy="614680"/>
          </a:xfrm>
          <a:prstGeom prst="roundRect">
            <a:avLst>
              <a:gd name="adj" fmla="val 8926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117852"/>
            <a:ext cx="10552176" cy="340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&lt;span class="item-price"&gt;150&lt;/span&gt;円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2778252"/>
            <a:ext cx="10881360" cy="106273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item-price</a:t>
            </a:r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の中は </a:t>
            </a:r>
            <a:pPr indent="0" marL="0">
              <a:buNone/>
            </a:pPr>
            <a:r>
              <a:rPr lang="en-US" sz="28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数字だけ</a:t>
            </a:r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。「円」は外に出してあります。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40080" y="3987292"/>
            <a:ext cx="10881360" cy="106273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もし </a:t>
            </a:r>
            <a:pPr indent="0" marL="0">
              <a:buNone/>
            </a:pPr>
            <a:r>
              <a:rPr lang="en-US" sz="28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&lt;span class="item-price"&gt;150円&lt;/span&gt;</a:t>
            </a:r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だったら、</a:t>
            </a:r>
            <a:endParaRPr lang="en-US" sz="2800" dirty="0"/>
          </a:p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取れるのは 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「150円」という文字</a:t>
            </a:r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640080" y="5196332"/>
            <a:ext cx="10881360" cy="586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文字のままでは、大小をくらべられません。</a:t>
            </a:r>
            <a:endParaRPr lang="en-US" sz="2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検証ツールで本物を見てみよう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307590"/>
            <a:ext cx="10881360" cy="133502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1. サイトを開く</a:t>
            </a:r>
            <a:endParaRPr lang="en-US" sz="2400" dirty="0"/>
          </a:p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2. 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右クリック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→ 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検証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（または F12）</a:t>
            </a:r>
            <a:endParaRPr lang="en-US" sz="2400" dirty="0"/>
          </a:p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 出てきたパネルが、そのページの HTML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40080" y="3788918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&lt;div class="item"&gt;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が並んでいるのが見えます。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40080" y="4453382"/>
            <a:ext cx="91440" cy="983996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4453382"/>
            <a:ext cx="10607040" cy="9839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300" dirty="0">
                <a:solidFill>
                  <a:srgbClr val="3F3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全部わからなくて大丈夫。
</a:t>
            </a:r>
            <a:pPr indent="0" marL="0">
              <a:buNone/>
            </a:pPr>
            <a:r>
              <a:rPr lang="en-US" sz="2300" b="1" dirty="0">
                <a:solidFill>
                  <a:srgbClr val="3F3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「文字で書いてあるんだな」</a:t>
            </a:r>
            <a:pPr indent="0" marL="0">
              <a:buNone/>
            </a:pPr>
            <a:r>
              <a:rPr lang="en-US" sz="2300" dirty="0">
                <a:solidFill>
                  <a:srgbClr val="3F3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が分かればOKです。</a:t>
            </a:r>
            <a:endParaRPr lang="en-US" sz="2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241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4003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B45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第2部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640080" y="36347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やってみる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ステップ0：まず相手を見る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403348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コードを書く前に、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読ませたいページを自分の目で見る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40080" y="3067812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https://yuracode.github.io/isshop/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960120" y="3732276"/>
            <a:ext cx="10561320" cy="46329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Char char="●"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パン / 軽食 / 飲み物 / 文具 / 日用品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960120" y="4232148"/>
            <a:ext cx="10561320" cy="46329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Char char="●"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ぜんぶで30商品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40080" y="4841748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これが今日いちばん大事な順番です。</a:t>
            </a:r>
            <a:endParaRPr lang="en-US" sz="2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ステップ1：ページのタイトルを取る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262251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やることは3つ。さっきの3つと同じです。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640080" y="2926715"/>
            <a:ext cx="10881360" cy="2537714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3063875"/>
            <a:ext cx="10552176" cy="226339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res = requests.get(BASE_URL)      # ① 取ってくる</a:t>
            </a: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res.encoding = "utf-8"</a:t>
            </a: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html = res.text</a:t>
            </a: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soup = BeautifulSoup(html, "html.parser")   # ② 分解する</a:t>
            </a: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print(soup.title.text)            # ③ 探す</a:t>
            </a:r>
            <a:endParaRPr lang="en-US" sz="1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.text</a:t>
            </a:r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を付けると中身だけ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468880"/>
          <a:ext cx="10881360" cy="914400"/>
        </p:xfrm>
        <a:graphic>
          <a:graphicData uri="http://schemas.openxmlformats.org/drawingml/2006/table">
            <a:tbl>
              <a:tblPr/>
              <a:tblGrid>
                <a:gridCol w="3129595"/>
                <a:gridCol w="7751765"/>
              </a:tblGrid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書き方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出てくるもの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soup.title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&lt;title&gt;サイバー購買部 商品一覧&lt;/title&gt;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soup.title.text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サイバー購買部 商品一覧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4111752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タグごと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か、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中身だけ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かの違いです。</a:t>
            </a: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640080" y="4776216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ほしいのは中身なので </a:t>
            </a:r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.text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を付けます。</a:t>
            </a:r>
            <a:endParaRPr lang="en-US" sz="2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やってみよう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2560320"/>
            <a:ext cx="10881360" cy="614680"/>
          </a:xfrm>
          <a:prstGeom prst="roundRect">
            <a:avLst>
              <a:gd name="adj" fmla="val 8926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697480"/>
            <a:ext cx="10552176" cy="340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print(soup.h1.text)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3357880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title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を </a:t>
            </a:r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h1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に変えるだけ。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40080" y="4022344"/>
            <a:ext cx="10881360" cy="9265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さっき説明した「title と h1 は違う」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を、</a:t>
            </a:r>
            <a:endParaRPr lang="en-US" sz="2400" dirty="0"/>
          </a:p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自分の目で確かめてください。</a:t>
            </a:r>
            <a:endParaRPr lang="en-US" sz="2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ステップ2：商品名を全部ならべる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468880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商品は30個。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30回コピペするのは嫌ですね。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40080" y="3133344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そこで </a:t>
            </a:r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find_all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を使います。</a:t>
            </a:r>
            <a:endParaRPr lang="en-US" sz="24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797808"/>
          <a:ext cx="10881360" cy="914400"/>
        </p:xfrm>
        <a:graphic>
          <a:graphicData uri="http://schemas.openxmlformats.org/drawingml/2006/table">
            <a:tbl>
              <a:tblPr/>
              <a:tblGrid>
                <a:gridCol w="2886891"/>
                <a:gridCol w="7994469"/>
              </a:tblGrid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命令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意味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find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最初の1つだけ持ってくる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find_all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全部まとめて持ってくる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箱を全部持ってくる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2138553"/>
            <a:ext cx="10881360" cy="955040"/>
          </a:xfrm>
          <a:prstGeom prst="roundRect">
            <a:avLst>
              <a:gd name="adj" fmla="val 5745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275713"/>
            <a:ext cx="10552176" cy="680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items = soup.find_all("div", class_="item")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print(len(items))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40080" y="3276473"/>
            <a:ext cx="91440" cy="59258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3276473"/>
            <a:ext cx="10607040" cy="59258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3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div</a:t>
            </a:r>
            <a:pPr indent="0" marL="0">
              <a:buNone/>
            </a:pPr>
            <a:r>
              <a:rPr lang="en-US" sz="2300" dirty="0">
                <a:solidFill>
                  <a:srgbClr val="3F3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のうち、</a:t>
            </a:r>
            <a:pPr indent="0" marL="0">
              <a:buNone/>
            </a:pPr>
            <a:r>
              <a:rPr lang="en-US" sz="23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item</a:t>
            </a:r>
            <a:pPr indent="0" marL="0">
              <a:buNone/>
            </a:pPr>
            <a:r>
              <a:rPr lang="en-US" sz="2300" dirty="0">
                <a:solidFill>
                  <a:srgbClr val="3F3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という名札が付いているものを全部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640080" y="4033647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len(...)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は個数を数える命令。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と出れば成功です。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40080" y="4698111"/>
            <a:ext cx="10881360" cy="9265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class_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のうしろの </a:t>
            </a:r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_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を忘れずに。</a:t>
            </a:r>
            <a:endParaRPr lang="en-US" sz="2400" dirty="0"/>
          </a:p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（Python では </a:t>
            </a:r>
            <a:endParaRPr lang="en-US" sz="2400" dirty="0"/>
          </a:p>
          <a:p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class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が別の意味で使われているため）</a:t>
            </a:r>
            <a:endParaRPr lang="en-US" sz="2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箱の中から名前を取り出す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1976882"/>
            <a:ext cx="10881360" cy="1295400"/>
          </a:xfrm>
          <a:prstGeom prst="roundRect">
            <a:avLst>
              <a:gd name="adj" fmla="val 4235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114042"/>
            <a:ext cx="10552176" cy="1021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for item in items: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name = item.find("h2", class_="item-name")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print(name.text)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3455162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for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は 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くり返し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640080" y="4119626"/>
            <a:ext cx="91440" cy="983996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4119626"/>
            <a:ext cx="10607040" cy="9839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300" dirty="0">
                <a:solidFill>
                  <a:srgbClr val="3F3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30個の箱を1つずつ順番に開けて、</a:t>
            </a:r>
            <a:endParaRPr lang="en-US" sz="2300" dirty="0"/>
          </a:p>
          <a:p>
            <a:pPr indent="0" marL="0">
              <a:buNone/>
            </a:pPr>
            <a:r>
              <a:rPr lang="en-US" sz="2300" dirty="0">
                <a:solidFill>
                  <a:srgbClr val="3F3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その中から </a:t>
            </a:r>
            <a:endParaRPr lang="en-US" sz="2300" dirty="0"/>
          </a:p>
          <a:p>
            <a:pPr indent="0" marL="0">
              <a:buNone/>
            </a:pPr>
            <a:r>
              <a:rPr lang="en-US" sz="23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item-name</a:t>
            </a:r>
            <a:pPr indent="0" marL="0">
              <a:buNone/>
            </a:pPr>
            <a:r>
              <a:rPr lang="en-US" sz="2300" dirty="0">
                <a:solidFill>
                  <a:srgbClr val="3F3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の h2 を探して、中身を表示する</a:t>
            </a:r>
            <a:endParaRPr lang="en-US" sz="2300" dirty="0"/>
          </a:p>
        </p:txBody>
      </p:sp>
      <p:sp>
        <p:nvSpPr>
          <p:cNvPr id="9" name="Text 7"/>
          <p:cNvSpPr/>
          <p:nvPr/>
        </p:nvSpPr>
        <p:spPr>
          <a:xfrm>
            <a:off x="640080" y="5268214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30行、ずらっと出ます。</a:t>
            </a:r>
            <a:endParaRPr lang="en-US" sz="24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ステップ3：値段も取る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048764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名札を変えるだけです。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640080" y="2713228"/>
            <a:ext cx="10881360" cy="1635760"/>
          </a:xfrm>
          <a:prstGeom prst="roundRect">
            <a:avLst>
              <a:gd name="adj" fmla="val 3354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2850388"/>
            <a:ext cx="10552176" cy="1361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for item in items: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name  = item.find("h2",   class_="item-name").text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price = item.find("span", class_="item-price").text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print(name, price)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40080" y="4531868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h2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→ </a:t>
            </a:r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span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、</a:t>
            </a:r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item-name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→ </a:t>
            </a:r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item-price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40080" y="5196332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新しいことは何もしていません。</a:t>
            </a:r>
            <a:endParaRPr lang="en-US" sz="24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文字の150 と 数の150 は別物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2254504"/>
            <a:ext cx="10881360" cy="955040"/>
          </a:xfrm>
          <a:prstGeom prst="roundRect">
            <a:avLst>
              <a:gd name="adj" fmla="val 5745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391664"/>
            <a:ext cx="10552176" cy="680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price_text = "150"    # ← 文字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price      = 150      # ← 数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3392424"/>
            <a:ext cx="10881360" cy="586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画面には同じに見えます。でもコンピュータには別物。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40080" y="4124960"/>
            <a:ext cx="10881360" cy="586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文字のままだと足し算も比較もできません。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640080" y="4857496"/>
            <a:ext cx="10881360" cy="614680"/>
          </a:xfrm>
          <a:prstGeom prst="roundRect">
            <a:avLst>
              <a:gd name="adj" fmla="val 8926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4672" y="4994656"/>
            <a:ext cx="10552176" cy="340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price = int(price_text)   # 文字 → 数 に変換</a:t>
            </a:r>
            <a:endParaRPr lang="en-US" sz="2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一番安い商品を探す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560320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考え方を日本語で言うと、こうです。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40080" y="3224784"/>
            <a:ext cx="10881360" cy="174345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1. 「いままでで一番安い値段」を覚えておく箱を用意する</a:t>
            </a:r>
            <a:endParaRPr lang="en-US" sz="2400" dirty="0"/>
          </a:p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2. 上から順に見ていく</a:t>
            </a:r>
            <a:endParaRPr lang="en-US" sz="2400" dirty="0"/>
          </a:p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 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覚えている値段より安かったら、覚えなおす</a:t>
            </a:r>
            <a:pPr indent="0" marL="0">
              <a:buNone/>
            </a:pPr>
            <a:endParaRPr lang="en-US" sz="2400" dirty="0"/>
          </a:p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4. 最後まで見たら、覚えているのが最安値</a:t>
            </a:r>
            <a:endParaRPr lang="en-US" sz="24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コードにするとこれだけ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2092071"/>
            <a:ext cx="10881360" cy="2878074"/>
          </a:xfrm>
          <a:prstGeom prst="roundRect">
            <a:avLst>
              <a:gd name="adj" fmla="val 1906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229231"/>
            <a:ext cx="10552176" cy="26037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7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cheapest_name  = ""</a:t>
            </a:r>
            <a:endParaRPr lang="en-US" sz="17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7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cheapest_price = 99999</a:t>
            </a:r>
            <a:endParaRPr lang="en-US" sz="1700" dirty="0"/>
          </a:p>
          <a:p>
            <a:pPr indent="0" marL="0">
              <a:lnSpc>
                <a:spcPct val="106000"/>
              </a:lnSpc>
              <a:buNone/>
            </a:pPr>
            <a:endParaRPr lang="en-US" sz="17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7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for item in items:</a:t>
            </a:r>
            <a:endParaRPr lang="en-US" sz="17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7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name  = item.find("h2", class_="item-name").text</a:t>
            </a:r>
            <a:endParaRPr lang="en-US" sz="17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7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price = int(item.find("span", class_="item-price").text)</a:t>
            </a:r>
            <a:endParaRPr lang="en-US" sz="17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7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if price &lt; cheapest_price:</a:t>
            </a:r>
            <a:endParaRPr lang="en-US" sz="17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7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    cheapest_price = price</a:t>
            </a:r>
            <a:endParaRPr lang="en-US" sz="17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7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    cheapest_name  = name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40080" y="5153025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99999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は「最初はありえない大きな数」を置いておくため。</a:t>
            </a:r>
            <a:endParaRPr lang="en-US" sz="2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できました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2560320"/>
            <a:ext cx="10881360" cy="614680"/>
          </a:xfrm>
          <a:prstGeom prst="roundRect">
            <a:avLst>
              <a:gd name="adj" fmla="val 8926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697480"/>
            <a:ext cx="10552176" cy="340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一番安いのは クリアファイル で 80 円です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3357880"/>
            <a:ext cx="10881360" cy="586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30個の中から、一瞬で見つかりました。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40080" y="4090416"/>
            <a:ext cx="10881360" cy="586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ここまでで、今日のメインは終わりです。</a:t>
            </a:r>
            <a:endParaRPr lang="en-US" sz="28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241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4003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B45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発展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640080" y="36347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リンクをたどってみる</a:t>
            </a:r>
            <a:endParaRPr lang="en-US" sz="28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ステップ4：リンクをたどる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022856"/>
            <a:ext cx="10881360" cy="9265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一覧ページには 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在庫が載っていません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endParaRPr lang="en-US" sz="2400" dirty="0"/>
          </a:p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在庫は、商品ごとの詳細ページにあります。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640080" y="3095752"/>
            <a:ext cx="10881360" cy="614680"/>
          </a:xfrm>
          <a:prstGeom prst="roundRect">
            <a:avLst>
              <a:gd name="adj" fmla="val 8926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3232912"/>
            <a:ext cx="10552176" cy="340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href = item.find("a", class_="item-link").get("href")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40080" y="3893312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.get("href")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で 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属性の中身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を取り出します。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40080" y="4557776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あとは、そのアドレスをまた </a:t>
            </a:r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requests.get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するだけ。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40080" y="5222240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やることはステップ1と同じです。</a:t>
            </a:r>
            <a:endParaRPr lang="en-US" sz="24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5つの商品を、順番に見にいく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2176780"/>
            <a:ext cx="10881360" cy="1635760"/>
          </a:xfrm>
          <a:prstGeom prst="roundRect">
            <a:avLst>
              <a:gd name="adj" fmla="val 3354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313940"/>
            <a:ext cx="10552176" cy="1361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for item in items[:5]: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...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print(name, ":", stock)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time.sleep(1)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3995420"/>
            <a:ext cx="10881360" cy="9265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items[:5]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は「最初の5商品だけ」。
</a:t>
            </a:r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time.sleep(1)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は「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1秒待つ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」。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40080" y="5068316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実行すると、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5秒くらい待たされます。</a:t>
            </a:r>
            <a:endParaRPr lang="en-US" sz="24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241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4003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B45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ちょっと大事な話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640080" y="36347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使い方について</a:t>
            </a:r>
            <a:endParaRPr lang="en-US" sz="28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さっきの5秒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560320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5個の商品を見にいくのに、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5秒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かかりましたね。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40080" y="3224784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あれは、わざと 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1秒ずつ待つように書いてあります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40080" y="3889248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待たなければ、一瞬で終わったはずです。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40080" y="4553712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なぜ、わざわざ待たせていると思いますか？</a:t>
            </a:r>
            <a:endParaRPr lang="en-US" sz="24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向こう側にもコンピュータがある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153412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みんなが見ていたページは、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40080" y="2817876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どこかのコンピュータが動いて返してくれています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960120" y="3482340"/>
            <a:ext cx="10561320" cy="46329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Char char="●"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1回のアクセス → なんともない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960120" y="3982212"/>
            <a:ext cx="10561320" cy="46329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Char char="●"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待たずに30回、300回、3000回 → ？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60120" y="4482084"/>
            <a:ext cx="10561320" cy="46329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Char char="●"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しかも、この教室には20人います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40080" y="5091684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20人 × 3000回 が一斉に来たら、どうなるでしょう。</a:t>
            </a:r>
            <a:endParaRPr lang="en-US" sz="24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攻撃するつもりがなくても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251456"/>
            <a:ext cx="10881360" cy="586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結果として攻撃になってしまう</a:t>
            </a:r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ことがあります。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2983992"/>
            <a:ext cx="10881360" cy="586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だから今日は、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3716528"/>
            <a:ext cx="10881360" cy="586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先生が用意した練習用のサイト</a:t>
            </a:r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を使いました。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40080" y="4449064"/>
            <a:ext cx="10881360" cy="106273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よそのお店のサイトで練習したら、</a:t>
            </a:r>
            <a:endParaRPr lang="en-US" sz="2800" dirty="0"/>
          </a:p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それだけで迷惑になるからです。</a:t>
            </a:r>
            <a:endParaRPr lang="en-US" sz="28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判断するための3つの目安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557780"/>
          <a:ext cx="10881360" cy="914400"/>
        </p:xfrm>
        <a:graphic>
          <a:graphicData uri="http://schemas.openxmlformats.org/drawingml/2006/table">
            <a:tbl>
              <a:tblPr/>
              <a:tblGrid>
                <a:gridCol w="1937776"/>
                <a:gridCol w="8943584"/>
              </a:tblGrid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見るもの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何が分かるか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利用規約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「自動で集めてはいけない」と書いてあることがある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robots.txt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機械向けの「入っていい／だめ」の案内板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間隔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1回ごとに1秒あける。急ぐ理由はたいていない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4687316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https://例.com/robots.txt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で誰でも見られます。</a:t>
            </a:r>
            <a:endParaRPr lang="en-US" sz="24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同じコードが、道具にも迷惑にもなる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443353"/>
            <a:ext cx="10881360" cy="586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今日みんなが書いたコードは、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3175889"/>
            <a:ext cx="10881360" cy="586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あと1文字変えるだけで</a:t>
            </a:r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、よそのサイトに向けられます。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3908425"/>
            <a:ext cx="10881360" cy="586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分けているのは技術ではなく、</a:t>
            </a:r>
            <a:pPr indent="0" marL="0">
              <a:buNone/>
            </a:pPr>
            <a:r>
              <a:rPr lang="en-US" sz="28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使い方</a:t>
            </a:r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です。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640080" y="4640961"/>
            <a:ext cx="91440" cy="660654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4640961"/>
            <a:ext cx="10607040" cy="66065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700" dirty="0">
                <a:solidFill>
                  <a:srgbClr val="3F3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できるようになった、というのはそういうことです。</a:t>
            </a:r>
            <a:endParaRPr lang="en-US" sz="27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241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4003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B45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発展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640080" y="36347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本物のページに触ってみる</a:t>
            </a:r>
            <a:endParaRPr lang="en-US" sz="28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ステップ5：本物のページに触る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560320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ここまでは、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授業用に用意したきれいなページ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でした。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40080" y="3224784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わざわざ </a:t>
            </a:r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item-name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などの名札が付けてありました。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40080" y="3889248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本物のページには、そんな親切はありません。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40080" y="4553712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Wikipedia の記事で試してみましょう。</a:t>
            </a:r>
            <a:endParaRPr lang="en-US" sz="24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id</a:t>
            </a:r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＝ ページに1つだけの名札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2560320"/>
            <a:ext cx="10881360" cy="614680"/>
          </a:xfrm>
          <a:prstGeom prst="roundRect">
            <a:avLst>
              <a:gd name="adj" fmla="val 8926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697480"/>
            <a:ext cx="10552176" cy="340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print(wiki.find("h1", id="firstHeading").text)</a:t>
            </a:r>
            <a:endParaRPr lang="en-US" sz="2000" dirty="0"/>
          </a:p>
        </p:txBody>
      </p:sp>
      <p:graphicFrame>
        <p:nvGraphicFramePr>
          <p:cNvPr id="4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357880"/>
          <a:ext cx="10881360" cy="914400"/>
        </p:xfrm>
        <a:graphic>
          <a:graphicData uri="http://schemas.openxmlformats.org/drawingml/2006/table">
            <a:tbl>
              <a:tblPr/>
              <a:tblGrid>
                <a:gridCol w="1120901"/>
                <a:gridCol w="9760459"/>
              </a:tblGrid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意味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class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同じ仲間が何個もある印（商品30個ぜんぶ item）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id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ページに1個しかない印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本物は、ほしいものだけ並べてくれない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2144268"/>
            <a:ext cx="10881360" cy="955040"/>
          </a:xfrm>
          <a:prstGeom prst="roundRect">
            <a:avLst>
              <a:gd name="adj" fmla="val 5745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281428"/>
            <a:ext cx="10552176" cy="680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for h in wiki.find_all("h2"):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print(h.text)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40080" y="3282188"/>
            <a:ext cx="10881360" cy="1635760"/>
          </a:xfrm>
          <a:prstGeom prst="roundRect">
            <a:avLst>
              <a:gd name="adj" fmla="val 3354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3419348"/>
            <a:ext cx="10552176" cy="1361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目次          ← これは記事の見出しじゃない！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名称の由来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歴史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...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40080" y="5100828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いらないものが混ざるのが普通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です。</a:t>
            </a:r>
            <a:endParaRPr lang="en-US" sz="24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取ったあとに「掃除」が要る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2322576"/>
            <a:ext cx="10881360" cy="614680"/>
          </a:xfrm>
          <a:prstGeom prst="roundRect">
            <a:avLst>
              <a:gd name="adj" fmla="val 8926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459736"/>
            <a:ext cx="10552176" cy="340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メロンパンとは、日本発祥の菓子パンの一種。……[1][2][3]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3120136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[1]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は脚注の印で、</a:t>
            </a:r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&lt;sup&gt;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というタグに入っています。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640080" y="3784600"/>
            <a:ext cx="10881360" cy="955040"/>
          </a:xfrm>
          <a:prstGeom prst="roundRect">
            <a:avLst>
              <a:gd name="adj" fmla="val 5745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3921760"/>
            <a:ext cx="10552176" cy="680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for sup in first.find_all("sup"):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sup.decompose()      # そのタグをまるごと消す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" y="4922520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本物のスクレイピングは、掃除が仕事の大半です。</a:t>
            </a:r>
            <a:endParaRPr lang="en-US" sz="24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そもそも入口が用意されていることも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847342"/>
            <a:ext cx="10881360" cy="586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Wikipedia には、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2579878"/>
            <a:ext cx="10881360" cy="586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データを渡すための入口（API）</a:t>
            </a:r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があります。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3312414"/>
            <a:ext cx="10881360" cy="586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HTML をむしるのではなく、そちらに聞く。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40080" y="4044950"/>
            <a:ext cx="10881360" cy="586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掃除の必要がない、きれいなデータが返ってきます。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640080" y="4777486"/>
            <a:ext cx="91440" cy="1120140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4777486"/>
            <a:ext cx="10607040" cy="11201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700" dirty="0">
                <a:solidFill>
                  <a:srgbClr val="3F3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相手が入口を用意しているなら、そっちを使うほうが</a:t>
            </a:r>
            <a:endParaRPr lang="en-US" sz="2700" dirty="0"/>
          </a:p>
          <a:p>
            <a:pPr indent="0" marL="0">
              <a:buNone/>
            </a:pPr>
            <a:r>
              <a:rPr lang="en-US" sz="2700" dirty="0">
                <a:solidFill>
                  <a:srgbClr val="3F3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速いし、相手にもやさしい。</a:t>
            </a:r>
            <a:endParaRPr lang="en-US" sz="27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名乗らないと、入れてもらえない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2218944"/>
            <a:ext cx="10881360" cy="1295400"/>
          </a:xfrm>
          <a:prstGeom prst="roundRect">
            <a:avLst>
              <a:gd name="adj" fmla="val 4235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356104"/>
            <a:ext cx="10552176" cy="1021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headers = {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"User-Agent": "授業用/1.0 (連絡先) requests"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}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3697224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Wikipedia は「どこの誰が何のために来たのか」を求めています。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40080" y="4361688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名乗らずにアクセスすると `403`（お断り）が返ります。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40080" y="5026152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人間の世界と同じですね。</a:t>
            </a:r>
            <a:endParaRPr lang="en-US" sz="24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まとめ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141220"/>
            <a:ext cx="10881360" cy="586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きょうやったことは、たった3つのくり返しでした。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2873756"/>
            <a:ext cx="10881360" cy="15392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1. </a:t>
            </a:r>
            <a:pPr indent="0" marL="0">
              <a:buNone/>
            </a:pPr>
            <a:r>
              <a:rPr lang="en-US" sz="28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requests.get(...)</a:t>
            </a:r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で </a:t>
            </a:r>
            <a:pPr indent="0" marL="0">
              <a:buNone/>
            </a:pPr>
            <a:r>
              <a:rPr lang="en-US" sz="28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取ってくる</a:t>
            </a:r>
            <a:pPr indent="0" marL="0">
              <a:buNone/>
            </a:pPr>
            <a:endParaRPr lang="en-US" sz="2800" dirty="0"/>
          </a:p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2. </a:t>
            </a:r>
            <a:endParaRPr lang="en-US" sz="2800" dirty="0"/>
          </a:p>
          <a:p>
            <a:pPr indent="0" marL="0">
              <a:buNone/>
            </a:pPr>
            <a:r>
              <a:rPr lang="en-US" sz="28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BeautifulSoup(...)</a:t>
            </a:r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で </a:t>
            </a:r>
            <a:pPr indent="0" marL="0">
              <a:buNone/>
            </a:pPr>
            <a:r>
              <a:rPr lang="en-US" sz="28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分解する</a:t>
            </a:r>
            <a:pPr indent="0" marL="0">
              <a:buNone/>
            </a:pPr>
            <a:endParaRPr lang="en-US" sz="2800" dirty="0"/>
          </a:p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 </a:t>
            </a:r>
            <a:endParaRPr lang="en-US" sz="2800" dirty="0"/>
          </a:p>
          <a:p>
            <a:pPr indent="0" marL="0">
              <a:buNone/>
            </a:pPr>
            <a:r>
              <a:rPr lang="en-US" sz="28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find</a:t>
            </a:r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/ </a:t>
            </a:r>
            <a:pPr indent="0" marL="0">
              <a:buNone/>
            </a:pPr>
            <a:r>
              <a:rPr lang="en-US" sz="28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find_all</a:t>
            </a:r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で </a:t>
            </a:r>
            <a:pPr indent="0" marL="0">
              <a:buNone/>
            </a:pPr>
            <a:r>
              <a:rPr lang="en-US" sz="28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探す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4559300"/>
            <a:ext cx="10881360" cy="106273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相手のサイトが変わっても、やることは同じ。</a:t>
            </a:r>
            <a:endParaRPr lang="en-US" sz="2800" dirty="0"/>
          </a:p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違うのは 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「どこを探すか」</a:t>
            </a:r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だけです。</a:t>
            </a:r>
            <a:endParaRPr lang="en-US" sz="28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066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49174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おつかれさまでした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40080" y="372618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自分だったら、何を取り出してみたいですか？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52</Slides>
  <Notes>52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52</vt:i4>
      </vt:variant>
    </vt:vector>
  </HeadingPairs>
  <TitlesOfParts>
    <vt:vector size="5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Webページから情報を取り出してみよう</dc:title>
  <dc:subject>PptxGenJS Presentation</dc:subject>
  <dc:creator>PptxGenJS</dc:creator>
  <cp:lastModifiedBy>PptxGenJS</cp:lastModifiedBy>
  <cp:revision>1</cp:revision>
  <dcterms:created xsi:type="dcterms:W3CDTF">2020-01-01T00:00:00Z</dcterms:created>
  <dcterms:modified xsi:type="dcterms:W3CDTF">2020-01-01T00:00:00Z</dcterms:modified>
</cp:coreProperties>
</file>