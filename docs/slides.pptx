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notesMasterIdLst>
    <p:notesMasterId r:id="rId6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06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917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Webページから情報を取り出してみよう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40080" y="37261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はじめてのプログラミング / スクレイピング体験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きょうのゴール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443353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Webページに並んでいる </a:t>
            </a:r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30個の商品の名前と値段</a:t>
            </a:r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3175889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プログラムに読ませて、</a:t>
            </a:r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一瞬で</a:t>
            </a:r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全部並べます。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3908425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そのあと、</a:t>
            </a:r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安い順にならべたり、平均を出したり</a:t>
            </a:r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します。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4640961"/>
            <a:ext cx="91440" cy="660654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640961"/>
            <a:ext cx="10607040" cy="66065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3F3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手で写したら10分。プログラムなら1秒。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覚えることは、たった3つ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25548"/>
          <a:ext cx="10881360" cy="914400"/>
        </p:xfrm>
        <a:graphic>
          <a:graphicData uri="http://schemas.openxmlformats.org/drawingml/2006/table">
            <a:tbl>
              <a:tblPr/>
              <a:tblGrid>
                <a:gridCol w="903942"/>
                <a:gridCol w="3897429"/>
                <a:gridCol w="6079989"/>
              </a:tblGrid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やること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使うもの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取ってくる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requests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分解する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BeautifulSoup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探す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find / find_all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355084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これだけです。文法は覚えなくて大丈夫。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5019548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「動いた」を積み重ねるのが今日の目的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です。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きょうの道具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409444"/>
            <a:ext cx="10561320" cy="8717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●"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 Colaboratory（Colab）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ブラウザだけで Python が動く。インストール不要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3317748"/>
            <a:ext cx="10561320" cy="463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●"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requests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ページを取ってくる係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3817620"/>
            <a:ext cx="10561320" cy="8717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●"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BeautifulSoup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取ってきたページをバラバラに分解して、探しやすくする係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835652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準備はゼロ。ノートブックを開くだけです。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1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003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B4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36347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Webページの正体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ブラウザが見せているもの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31492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みんながいつも見ているのは、こういう画面ですね。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2695956"/>
            <a:ext cx="10561320" cy="463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●"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見出しがあって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3195828"/>
            <a:ext cx="10561320" cy="463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●"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写真があって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3695700"/>
            <a:ext cx="10561320" cy="463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●"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文章があって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4195572"/>
            <a:ext cx="10561320" cy="463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●"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押すと飛ぶリンクがある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4805172"/>
            <a:ext cx="10881360" cy="92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でも、コンピュータはこれを「絵」として持っているわけではありません。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正体は、ぜんぶ「文字」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0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Webページは、</a:t>
            </a:r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全部が文字で書かれた設計図</a:t>
            </a:r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です。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3292856"/>
            <a:ext cx="10881360" cy="10627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ブラウザは、その設計図を読んで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「じゃあこう表示しよう」と絵にしてくれているだけ。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4501896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その設計図の名前が HTML です。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 を見てみると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47062"/>
            <a:ext cx="10881360" cy="955040"/>
          </a:xfrm>
          <a:prstGeom prst="roundRect">
            <a:avLst>
              <a:gd name="adj" fmla="val 5745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284222"/>
            <a:ext cx="10552176" cy="68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B2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&lt;h1&gt;</a:t>
            </a:r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サイバー購買部</a:t>
            </a:r>
            <a:pPr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B2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&lt;/h1&gt;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0B5A9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&lt;p&gt;</a:t>
            </a:r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きょうの商品ラインナップ</a:t>
            </a:r>
            <a:pPr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0B5A9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&lt;/p&gt;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284982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これがブラウザではこう見えます。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3949446"/>
            <a:ext cx="91440" cy="983996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949446"/>
            <a:ext cx="10607040" cy="9839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F3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 サイバー購買部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3F3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きょうの商品ラインナップ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40080" y="5098034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同じものです。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書き方が違うだけ。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タグ＝「ここは○○ですよ」という印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59000"/>
            <a:ext cx="10881360" cy="614680"/>
          </a:xfrm>
          <a:prstGeom prst="roundRect">
            <a:avLst>
              <a:gd name="adj" fmla="val 8926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296160"/>
            <a:ext cx="10552176" cy="34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B2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&lt;h1&gt;</a:t>
            </a:r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サイバー購買部</a:t>
            </a:r>
            <a:pPr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B2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&lt;/h1&gt;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56560"/>
          <a:ext cx="10881360" cy="914400"/>
        </p:xfrm>
        <a:graphic>
          <a:graphicData uri="http://schemas.openxmlformats.org/drawingml/2006/table">
            <a:tbl>
              <a:tblPr/>
              <a:tblGrid>
                <a:gridCol w="3627120"/>
                <a:gridCol w="2072640"/>
                <a:gridCol w="5181600"/>
              </a:tblGrid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部分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名前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意味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&lt;h1&gt;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開始タグ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ここから見出しです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サイバー購買部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中身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実際に表示される文字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&lt;/h1&gt;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終了タグ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見出しはここまで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086096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 &gt;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で囲まれたものが 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タグ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。閉じるほうには 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`/`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が付きます。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タグの中に、タグが入る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716532"/>
            <a:ext cx="10881360" cy="1635760"/>
          </a:xfrm>
          <a:prstGeom prst="roundRect">
            <a:avLst>
              <a:gd name="adj" fmla="val 3354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1871980"/>
            <a:ext cx="36576" cy="1324864"/>
          </a:xfrm>
          <a:prstGeom prst="roundRect">
            <a:avLst>
              <a:gd name="adj" fmla="val 50000"/>
            </a:avLst>
          </a:prstGeom>
          <a:solidFill>
            <a:srgbClr val="B23A00"/>
          </a:solidFill>
          <a:ln w="12700">
            <a:solidFill>
              <a:srgbClr val="B23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53692"/>
            <a:ext cx="10552176" cy="136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B2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&lt;div&gt;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0B5A9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&lt;h2&gt;</a:t>
            </a:r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メロンパン</a:t>
            </a:r>
            <a:pPr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0B5A9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&lt;/h2&gt;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116B3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&lt;p&gt;</a:t>
            </a:r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150円</a:t>
            </a:r>
            <a:pPr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116B3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&lt;/p&gt;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B2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&lt;/div&gt;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535172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同じ色が、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開きタグと閉じタグのペア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です。左の縦線が1組の範囲。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199636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箱の中に、箱が入っている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イメージです。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4864100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これを 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入れ子（いれこ）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と呼びます。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5528564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今日はこの「箱」を目印にして、ほしいものを探します。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きょう出てくるタグ ①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53564"/>
          <a:ext cx="10881360" cy="914400"/>
        </p:xfrm>
        <a:graphic>
          <a:graphicData uri="http://schemas.openxmlformats.org/drawingml/2006/table">
            <a:tbl>
              <a:tblPr/>
              <a:tblGrid>
                <a:gridCol w="1919000"/>
                <a:gridCol w="2635988"/>
                <a:gridCol w="6326372"/>
              </a:tblGrid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タグ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読み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何を表すか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&lt;title&gt;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タイトル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ブラウザのタブに出る名前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&lt;h1&gt;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エイチワン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ページで一番大きい見出し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&lt;h2&gt;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エイチツー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その次の見出し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483100"/>
            <a:ext cx="10881360" cy="92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h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は 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heading（見出し）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の h。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数字が小さいほど大きい見出しです。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8A4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&lt;title&gt;</a:t>
            </a:r>
            <a:pPr indent="0" marL="0">
              <a:buNone/>
            </a:pPr>
            <a:r>
              <a:rPr lang="en-US" sz="40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と </a:t>
            </a:r>
            <a:pPr indent="0" marL="0">
              <a:buNone/>
            </a:pPr>
            <a:r>
              <a:rPr lang="en-US" sz="4000" b="1" dirty="0">
                <a:solidFill>
                  <a:srgbClr val="8A4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&lt;h1&gt;</a:t>
            </a:r>
            <a:pPr indent="0" marL="0">
              <a:buNone/>
            </a:pPr>
            <a:r>
              <a:rPr lang="en-US" sz="40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はちがう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49754"/>
          <a:ext cx="10881360" cy="914400"/>
        </p:xfrm>
        <a:graphic>
          <a:graphicData uri="http://schemas.openxmlformats.org/drawingml/2006/table">
            <a:tbl>
              <a:tblPr/>
              <a:tblGrid>
                <a:gridCol w="1787371"/>
                <a:gridCol w="3437253"/>
                <a:gridCol w="5656736"/>
              </a:tblGrid>
              <a:tr h="520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出る場所</a:t>
                      </a:r>
                      <a:endParaRPr lang="en-US" sz="2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購買部サイトでは</a:t>
                      </a:r>
                      <a:endParaRPr lang="en-US" sz="2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&lt;title&gt;</a:t>
                      </a:r>
                      <a:endParaRPr lang="en-US" sz="2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ブラウザのタブ</a:t>
                      </a:r>
                      <a:endParaRPr lang="en-US" sz="2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サイバー購買部 商品一覧</a:t>
                      </a:r>
                      <a:endParaRPr lang="en-US" sz="2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&lt;h1&gt;</a:t>
                      </a:r>
                      <a:endParaRPr lang="en-US" sz="2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ページの中</a:t>
                      </a:r>
                      <a:endParaRPr lang="en-US" sz="2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サイバー購買部</a:t>
                      </a:r>
                      <a:endParaRPr lang="en-US" sz="2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094734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同じページなのに、中身が違います。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4827270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あとで実際に両方取って、違いを確かめます。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きょう出てくるタグ ②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53564"/>
          <a:ext cx="10881360" cy="914400"/>
        </p:xfrm>
        <a:graphic>
          <a:graphicData uri="http://schemas.openxmlformats.org/drawingml/2006/table">
            <a:tbl>
              <a:tblPr/>
              <a:tblGrid>
                <a:gridCol w="1534803"/>
                <a:gridCol w="1475772"/>
                <a:gridCol w="7870785"/>
              </a:tblGrid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タグ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読み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何を表すか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&lt;p&gt;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ピー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段落。ふつうの文章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&lt;div&gt;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ディブ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ただの箱。まとめるための入れもの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&lt;span&gt;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スパン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文の中の一部分を囲む小さい印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483100"/>
            <a:ext cx="10881360" cy="92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は 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paragraph（段落）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
</a:t>
            </a:r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div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は 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division（区切り）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&lt;div&gt;</a:t>
            </a:r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は「箱」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10881360" cy="2861056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1618488"/>
            <a:ext cx="36576" cy="1256792"/>
          </a:xfrm>
          <a:prstGeom prst="roundRect">
            <a:avLst>
              <a:gd name="adj" fmla="val 50000"/>
            </a:avLst>
          </a:prstGeom>
          <a:solidFill>
            <a:srgbClr val="B23A00"/>
          </a:solidFill>
          <a:ln w="12700">
            <a:solidFill>
              <a:srgbClr val="B23A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2911856"/>
            <a:ext cx="36576" cy="1256792"/>
          </a:xfrm>
          <a:prstGeom prst="roundRect">
            <a:avLst>
              <a:gd name="adj" fmla="val 50000"/>
            </a:avLst>
          </a:prstGeom>
          <a:solidFill>
            <a:srgbClr val="6B2FA0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00200"/>
            <a:ext cx="10552176" cy="258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B2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&lt;div&gt;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0B5A9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&lt;h2&gt;</a:t>
            </a:r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メロンパン</a:t>
            </a:r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0B5A9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&lt;/h2&gt;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116B3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&lt;p&gt;</a:t>
            </a:r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150円</a:t>
            </a:r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116B3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&lt;/p&gt;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B2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&lt;/div&gt;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6B2FA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&lt;div&gt;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B2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&lt;h2&gt;</a:t>
            </a:r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焼きそばパン</a:t>
            </a:r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B2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&lt;/h2&gt;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0B5A9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&lt;p&gt;</a:t>
            </a:r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180円</a:t>
            </a:r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0B5A9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&lt;/p&gt;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6B2FA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&lt;/div&gt;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4506976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div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自体は何も表示しません。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5171440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「ここからここまでが1セット」とまとめるだけ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です。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5835904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商品1つ分 = </a:t>
            </a:r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div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1つ。今日いちばん大事な考え方です。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&lt;span&gt;</a:t>
            </a:r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は「文の中の一部」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80717"/>
            <a:ext cx="10881360" cy="614680"/>
          </a:xfrm>
          <a:prstGeom prst="roundRect">
            <a:avLst>
              <a:gd name="adj" fmla="val 8926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317877"/>
            <a:ext cx="10552176" cy="34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B2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&lt;p&gt;</a:t>
            </a:r>
            <a:pPr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0B5A9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&lt;span&gt;</a:t>
            </a:r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150</a:t>
            </a:r>
            <a:pPr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0B5A9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&lt;/span&gt;</a:t>
            </a:r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円</a:t>
            </a:r>
            <a:pPr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B2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&lt;/p&gt;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978277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ブラウザには 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150円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と出ます。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642741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 </a:t>
            </a:r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&lt;span&gt;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で囲んであるおかげで、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307205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「150 の部分だけ」を狙って取り出せる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ようになります。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4971669"/>
            <a:ext cx="91440" cy="59258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971669"/>
            <a:ext cx="10607040" cy="59258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F3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あとで効いてきます。覚えておいてください。</a:t>
            </a:r>
            <a:endParaRPr lang="en-US" sz="2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きょう出てくるタグ ③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070100"/>
            <a:ext cx="10881360" cy="614680"/>
          </a:xfrm>
          <a:prstGeom prst="roundRect">
            <a:avLst>
              <a:gd name="adj" fmla="val 8926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207260"/>
            <a:ext cx="10552176" cy="34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B2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&lt;a href="items/item01.html"&gt;</a:t>
            </a:r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くわしく見る</a:t>
            </a:r>
            <a:pPr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B2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&lt;/a&gt;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67660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&lt;a&gt;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は 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（anchor＝いかり、の a）。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32124"/>
          <a:ext cx="1088136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6217920"/>
              </a:tblGrid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部分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意味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くわしく見る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画面に出る文字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href="..."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飛び先のアドレス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174996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href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のような、タグに付ける追加情報を 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属性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といいます。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class ＝ 名札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980692"/>
            <a:ext cx="10881360" cy="614680"/>
          </a:xfrm>
          <a:prstGeom prst="roundRect">
            <a:avLst>
              <a:gd name="adj" fmla="val 8926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117852"/>
            <a:ext cx="10552176" cy="34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B2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&lt;h2 class="item-name"&gt;</a:t>
            </a:r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メロンパン</a:t>
            </a:r>
            <a:pPr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B2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&lt;/h2&gt;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778252"/>
            <a:ext cx="10881360" cy="10627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&lt;h2&gt;</a:t>
            </a:r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はページ中にたくさんあります。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そのままだと「どの h2 ？」と区別がつきません。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3987292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そこで </a:t>
            </a:r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名札（class）</a:t>
            </a:r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を付けておきます。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4719828"/>
            <a:ext cx="10881360" cy="10627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「item-name という名札の付いた h2 を全部持ってきて」</a:t>
            </a:r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と頼めるようになります。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商品1つ分の中身（これが今日の地図）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262251"/>
            <a:ext cx="10881360" cy="2537714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2417699"/>
            <a:ext cx="36576" cy="2226818"/>
          </a:xfrm>
          <a:prstGeom prst="roundRect">
            <a:avLst>
              <a:gd name="adj" fmla="val 50000"/>
            </a:avLst>
          </a:prstGeom>
          <a:solidFill>
            <a:srgbClr val="B23A00"/>
          </a:solidFill>
          <a:ln w="12700">
            <a:solidFill>
              <a:srgbClr val="B23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399411"/>
            <a:ext cx="10552176" cy="22633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B2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&lt;div class="item"&gt;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0B5A9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&lt;p  class="item-icon"&gt;</a:t>
            </a:r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🍈</a:t>
            </a:r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0B5A9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&lt;/p&gt;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116B3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&lt;h2 class="item-name"&gt;</a:t>
            </a:r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メロンパン</a:t>
            </a:r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116B3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&lt;/h2&gt;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6B2FA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&lt;p  class="item-category"&gt;</a:t>
            </a:r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パン</a:t>
            </a:r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6B2FA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&lt;/p&gt;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B2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&lt;p  class="item-price-line"&gt;</a:t>
            </a:r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0B5A9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&lt;span class="item-price"&gt;</a:t>
            </a:r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150</a:t>
            </a:r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0B5A9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&lt;/span&gt;</a:t>
            </a:r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円</a:t>
            </a:r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B2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&lt;/p&gt;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116B3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&lt;a  class="item-link" href="items/item01.html"&gt;</a:t>
            </a:r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くわしく見る</a:t>
            </a:r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116B3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&lt;/a&gt;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B2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&lt;/div&gt;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4982845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このかたまりが、30個くり返されています。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名札の一覧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60016"/>
          <a:ext cx="10881360" cy="914400"/>
        </p:xfrm>
        <a:graphic>
          <a:graphicData uri="http://schemas.openxmlformats.org/drawingml/2006/table">
            <a:tbl>
              <a:tblPr/>
              <a:tblGrid>
                <a:gridCol w="3095875"/>
                <a:gridCol w="5037667"/>
                <a:gridCol w="2747818"/>
              </a:tblGrid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class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中身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使うステップ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item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商品1つ分の箱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item-name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商品名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item-price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値段の数字だけ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item-category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カテゴリ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item-link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詳細ページへのリンク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item-stock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在庫（詳細ページだけ）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なぜ「150」と「円」が分けてある？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980692"/>
            <a:ext cx="10881360" cy="614680"/>
          </a:xfrm>
          <a:prstGeom prst="roundRect">
            <a:avLst>
              <a:gd name="adj" fmla="val 8926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117852"/>
            <a:ext cx="10552176" cy="34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B2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&lt;span class="item-price"&gt;</a:t>
            </a:r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150</a:t>
            </a:r>
            <a:pPr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B2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&lt;/span&gt;</a:t>
            </a:r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778252"/>
            <a:ext cx="10881360" cy="10627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item-price</a:t>
            </a:r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の中は </a:t>
            </a:r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数字だけ</a:t>
            </a:r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。「円」は外に出してあります。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3987292"/>
            <a:ext cx="10881360" cy="10627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もし </a:t>
            </a:r>
            <a:pPr indent="0" marL="0">
              <a:buNone/>
            </a:pPr>
            <a:r>
              <a:rPr lang="en-US" sz="28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&lt;span class="item-price"&gt;150円&lt;/span&gt;</a:t>
            </a:r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だったら、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取れるのは 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「150円」という文字</a:t>
            </a:r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5196332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文字のままでは、大小をくらべられません。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検証ツールで本物を見てみよう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07590"/>
            <a:ext cx="10881360" cy="1335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サイトを開く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右クリック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→ 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（または F12）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出てきたパネルが、そのページの HTML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788918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&lt;div class="item"&gt;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が並んでいるのが見えます。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4453382"/>
            <a:ext cx="91440" cy="983996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453382"/>
            <a:ext cx="10607040" cy="9839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F3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全部わからなくて大丈夫。
</a:t>
            </a:r>
            <a:pPr indent="0" marL="0">
              <a:buNone/>
            </a:pPr>
            <a:r>
              <a:rPr lang="en-US" sz="2300" b="1" dirty="0">
                <a:solidFill>
                  <a:srgbClr val="3F3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「文字で書いてあるんだな」</a:t>
            </a:r>
            <a:pPr indent="0" marL="0">
              <a:buNone/>
            </a:pPr>
            <a:r>
              <a:rPr lang="en-US" sz="2300" dirty="0">
                <a:solidFill>
                  <a:srgbClr val="3F3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が分かればOKです。</a:t>
            </a:r>
            <a:endParaRPr lang="en-US" sz="2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41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003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B4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36347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やってみる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ステップ0：まず相手を見る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403348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コードを書く前に、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読ませたいページを自分の目で見る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067812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https://yuracode.github.io/isshop/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3732276"/>
            <a:ext cx="10561320" cy="463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●"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パン / 軽食 / 飲み物 / 文具 / 日用品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4232148"/>
            <a:ext cx="10561320" cy="463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●"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ぜんぶで30商品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841748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これが今日いちばん大事な順番です。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ステップ1：ページのタイトルを取る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62251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やることは3つ。さっきの3つと同じです。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2926715"/>
            <a:ext cx="10881360" cy="2537714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3063875"/>
            <a:ext cx="10552176" cy="22633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res = requests.get(BASE_URL)      # ① 取ってくる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res.encoding = "utf-8"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html = res.text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soup = BeautifulSoup(html, "html.parser")   # ② 分解する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print(soup.title.text)            # ③ 探す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.text</a:t>
            </a:r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を付けると中身だけ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10881360" cy="914400"/>
        </p:xfrm>
        <a:graphic>
          <a:graphicData uri="http://schemas.openxmlformats.org/drawingml/2006/table">
            <a:tbl>
              <a:tblPr/>
              <a:tblGrid>
                <a:gridCol w="3129595"/>
                <a:gridCol w="7751765"/>
              </a:tblGrid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書き方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出てくるもの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soup.title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&lt;title&gt;サイバー購買部 商品一覧&lt;/title&gt;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soup.title.text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サイバー購買部 商品一覧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111752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タグごと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か、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中身だけ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かの違いです。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4776216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ほしいのは中身なので </a:t>
            </a:r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.text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を付けます。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やってみよう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560320"/>
            <a:ext cx="10881360" cy="614680"/>
          </a:xfrm>
          <a:prstGeom prst="roundRect">
            <a:avLst>
              <a:gd name="adj" fmla="val 8926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697480"/>
            <a:ext cx="10552176" cy="34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print(soup.h1.text)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357880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title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を </a:t>
            </a:r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h1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に変えるだけ。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022344"/>
            <a:ext cx="10881360" cy="92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さっき説明した「title と h1 は違う」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を、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自分の目で確かめてください。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ステップ2：商品名を全部ならべる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468880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商品は30個。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30回コピペするのは嫌ですね。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133344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そこで </a:t>
            </a:r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find_all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を使います。</a:t>
            </a:r>
            <a:endParaRPr lang="en-US" sz="2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97808"/>
          <a:ext cx="10881360" cy="914400"/>
        </p:xfrm>
        <a:graphic>
          <a:graphicData uri="http://schemas.openxmlformats.org/drawingml/2006/table">
            <a:tbl>
              <a:tblPr/>
              <a:tblGrid>
                <a:gridCol w="2886891"/>
                <a:gridCol w="7994469"/>
              </a:tblGrid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命令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意味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find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最初の1つだけ持ってくる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find_all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全部まとめて持ってくる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箱を全部持ってくる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38553"/>
            <a:ext cx="10881360" cy="955040"/>
          </a:xfrm>
          <a:prstGeom prst="roundRect">
            <a:avLst>
              <a:gd name="adj" fmla="val 5745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275713"/>
            <a:ext cx="10552176" cy="68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items = soup.find_all("div", class_="item")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print(len(items))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276473"/>
            <a:ext cx="91440" cy="59258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76473"/>
            <a:ext cx="10607040" cy="59258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div</a:t>
            </a:r>
            <a:pPr indent="0" marL="0">
              <a:buNone/>
            </a:pPr>
            <a:r>
              <a:rPr lang="en-US" sz="2300" dirty="0">
                <a:solidFill>
                  <a:srgbClr val="3F3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のうち、</a:t>
            </a:r>
            <a:pPr indent="0" marL="0">
              <a:buNone/>
            </a:pPr>
            <a:r>
              <a:rPr lang="en-US" sz="23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item</a:t>
            </a:r>
            <a:pPr indent="0" marL="0">
              <a:buNone/>
            </a:pPr>
            <a:r>
              <a:rPr lang="en-US" sz="2300" dirty="0">
                <a:solidFill>
                  <a:srgbClr val="3F3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という名札が付いているものを全部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40080" y="4033647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len(...)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は個数を数える命令。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と出れば成功です。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4698111"/>
            <a:ext cx="10881360" cy="92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class_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のうしろの </a:t>
            </a:r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_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を忘れずに。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（Python では 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class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が別の意味で使われているため）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箱の中から名前を取り出す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976882"/>
            <a:ext cx="10881360" cy="1295400"/>
          </a:xfrm>
          <a:prstGeom prst="roundRect">
            <a:avLst>
              <a:gd name="adj" fmla="val 4235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114042"/>
            <a:ext cx="10552176" cy="1021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for item in items: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name = item.find("h2", class_="item-name")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print(name.text)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455162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for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は 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くり返し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4119626"/>
            <a:ext cx="91440" cy="983996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19626"/>
            <a:ext cx="10607040" cy="9839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F3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30個の箱を1つずつ順番に開けて、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3F3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その中から 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item-name</a:t>
            </a:r>
            <a:pPr indent="0" marL="0">
              <a:buNone/>
            </a:pPr>
            <a:r>
              <a:rPr lang="en-US" sz="2300" dirty="0">
                <a:solidFill>
                  <a:srgbClr val="3F3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の h2 を探して、中身を表示する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40080" y="5268214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30行、ずらっと出ます。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1コマ目はここまで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0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30個の商品名が、一瞬でならびました。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3292856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ノートブックを保存してください</a:t>
            </a:r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</a:t>
            </a:r>
            <a:pPr indent="0" marL="0">
              <a:buNone/>
            </a:pPr>
            <a:r>
              <a:rPr lang="en-US" sz="28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Ctrl + S</a:t>
            </a:r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）。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4025392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2コマ目は、ここに </a:t>
            </a:r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値段</a:t>
            </a:r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を足していきます。</a:t>
            </a:r>
            <a:endParaRPr lang="en-US" sz="2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41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003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B4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2コマ目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36347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取って、選んで、数える</a:t>
            </a:r>
            <a:endParaRPr lang="en-US" sz="2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2コマ目のはじめに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0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休憩のあいだに、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Colab とのつながりは切れています。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224784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いちばん上の </a:t>
            </a:r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準備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から、もう一度 ▶ を押していってください。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3889248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ステップ2まで戻れば、</a:t>
            </a:r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items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がまた使えます。すぐ終わります。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553712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エラーが出たら、1つ上のセルから実行しなおす。</a:t>
            </a:r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ステップ3：値段も取る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48764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名札を変えるだけです。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2713228"/>
            <a:ext cx="10881360" cy="1635760"/>
          </a:xfrm>
          <a:prstGeom prst="roundRect">
            <a:avLst>
              <a:gd name="adj" fmla="val 3354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850388"/>
            <a:ext cx="10552176" cy="136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for item in items: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name  = item.find("h2",   class_="item-name").text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price = item.find("span", class_="item-price").text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print(name, price)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531868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h2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→ </a:t>
            </a:r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span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</a:t>
            </a:r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item-name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→ </a:t>
            </a:r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item-price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5196332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新しいことは何もしていません。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文字の150 と 数の150 は別物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254504"/>
            <a:ext cx="10881360" cy="955040"/>
          </a:xfrm>
          <a:prstGeom prst="roundRect">
            <a:avLst>
              <a:gd name="adj" fmla="val 5745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391664"/>
            <a:ext cx="10552176" cy="68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price_text = "150"    # ← 文字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price      = 150      # ← 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392424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画面には同じに見えます。でもコンピュータには別物。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4124960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文字のままだと足し算も比較もできません。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4857496"/>
            <a:ext cx="10881360" cy="614680"/>
          </a:xfrm>
          <a:prstGeom prst="roundRect">
            <a:avLst>
              <a:gd name="adj" fmla="val 8926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4994656"/>
            <a:ext cx="10552176" cy="34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price = int(price_text)   # 文字 → 数 に変換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一番安い商品を探す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0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考え方を日本語で言うと、こうです。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224784"/>
            <a:ext cx="10881360" cy="17434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「いままでで一番安い値段」を覚えておく箱を用意する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上から順に見ていく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覚えている値段より安かったら、覚えなおす</a:t>
            </a:r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最後まで見たら、覚えているのが最安値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コードにするとこれだけ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092071"/>
            <a:ext cx="10881360" cy="2878074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229231"/>
            <a:ext cx="10552176" cy="26037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cheapest_name  = ""</a:t>
            </a:r>
            <a:endParaRPr lang="en-US" sz="17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cheapest_price = 99999</a:t>
            </a:r>
            <a:endParaRPr lang="en-US" sz="1700" dirty="0"/>
          </a:p>
          <a:p>
            <a:pPr indent="0" marL="0">
              <a:lnSpc>
                <a:spcPct val="106000"/>
              </a:lnSpc>
              <a:buNone/>
            </a:pPr>
            <a:endParaRPr lang="en-US" sz="17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for item in items:</a:t>
            </a:r>
            <a:endParaRPr lang="en-US" sz="17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name  = item.find("h2", class_="item-name").text</a:t>
            </a:r>
            <a:endParaRPr lang="en-US" sz="17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price = int(item.find("span", class_="item-price").text)</a:t>
            </a:r>
            <a:endParaRPr lang="en-US" sz="17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if price &lt; cheapest_price:</a:t>
            </a:r>
            <a:endParaRPr lang="en-US" sz="17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    cheapest_price = price</a:t>
            </a:r>
            <a:endParaRPr lang="en-US" sz="17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    cheapest_name  = name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5153025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99999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は「最初はありえない大きな数」を置いておくため。</a:t>
            </a:r>
            <a:endParaRPr 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できました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560320"/>
            <a:ext cx="10881360" cy="614680"/>
          </a:xfrm>
          <a:prstGeom prst="roundRect">
            <a:avLst>
              <a:gd name="adj" fmla="val 8926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697480"/>
            <a:ext cx="10552176" cy="34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一番安いのは クリアファイル で 80 円です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357880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30個の中から、一瞬で見つかりました。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4090416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ここからは、取ったデータを使ってみます。</a:t>
            </a:r>
            <a:endParaRPr lang="en-US" sz="2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ステップ4：ほしいものだけ選ぶ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0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30個ぜんぶ出てきても、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多すぎて選べません。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224784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「120円以下だけ」「安い順に5つ」で見たいですよね。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3889248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取ってから、選ぶ。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ここからがデータの使いかたです。</a:t>
            </a:r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「もし〜なら」で選ぶ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210816"/>
            <a:ext cx="10881360" cy="1976120"/>
          </a:xfrm>
          <a:prstGeom prst="roundRect">
            <a:avLst>
              <a:gd name="adj" fmla="val 2776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347976"/>
            <a:ext cx="10552176" cy="170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for item in items: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name  = item.find("h2", class_="item-name").text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price = int(item.find("span", class_="item-price").text)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if price &lt;= 120: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    print(name, price)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369816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if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は「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もし〜なら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」。条件に合うときだけ </a:t>
            </a:r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print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します。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5034280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&lt;=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は「以下」。30個が 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13個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にしぼれます。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安い順にならべる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64132"/>
            <a:ext cx="10881360" cy="2861056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01292"/>
            <a:ext cx="10552176" cy="258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prices = []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for item in items: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name  = item.find("h2", class_="item-name").text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price = int(item.find("span", class_="item-price").text)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prices.append((price, name))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prices.sort()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4608068"/>
            <a:ext cx="10881360" cy="92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append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は「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リストの後ろに足す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」。</a:t>
            </a:r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sort()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は「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小さい順にならべる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」。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5680964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値段を先に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書くのがコツ。その順にならんでくれます。</a:t>
            </a:r>
            <a:endParaRPr lang="en-US" sz="2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安いほうから5つ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974088"/>
            <a:ext cx="10881360" cy="955040"/>
          </a:xfrm>
          <a:prstGeom prst="roundRect">
            <a:avLst>
              <a:gd name="adj" fmla="val 5745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111248"/>
            <a:ext cx="10552176" cy="68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for price, name in prices[:5]: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print(price, name)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112008"/>
            <a:ext cx="10881360" cy="1976120"/>
          </a:xfrm>
          <a:prstGeom prst="roundRect">
            <a:avLst>
              <a:gd name="adj" fmla="val 2776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3249168"/>
            <a:ext cx="10552176" cy="170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80 クリアファイル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90 使い捨てカイロ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90 消しゴム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100 シャープペンの芯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100 炭酸水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5271008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prices[:5]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は「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最初の5つだけ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」。ステップ6でもまた出てきます。</a:t>
            </a:r>
            <a:endParaRPr lang="en-US" sz="2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ステップ5：カテゴリごとに数える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0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商品には、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カテゴリの名札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も付いています。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3224784"/>
            <a:ext cx="10881360" cy="614680"/>
          </a:xfrm>
          <a:prstGeom prst="roundRect">
            <a:avLst>
              <a:gd name="adj" fmla="val 8926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3361944"/>
            <a:ext cx="10552176" cy="34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B2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&lt;p class="item-category"&gt;</a:t>
            </a:r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パン</a:t>
            </a:r>
            <a:pPr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B2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&lt;/p&gt;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022344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パンは平均いくら？ 飲み物は？ — 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プログラムに数えさせます。</a:t>
            </a:r>
            <a:endParaRPr 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同じ名札ごとに、まとめる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768348"/>
            <a:ext cx="10881360" cy="2861056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905508"/>
            <a:ext cx="10552176" cy="258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totals = {}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counts = {}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for item in items: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cat   = item.find("p", class_="item-category").text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price = int(item.find("span", class_="item-price").text)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totals[cat] = totals.get(cat, 0) + price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counts[cat] = counts.get(cat, 0) + 1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4812284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{}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は 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辞書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名前で覚えておく入れもの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です。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5476748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「パン → 合計1090」「飲み物 → 合計710」のように覚えていきます。</a:t>
            </a:r>
            <a:endParaRPr lang="en-US"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平均を出す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560320"/>
            <a:ext cx="10881360" cy="955040"/>
          </a:xfrm>
          <a:prstGeom prst="roundRect">
            <a:avLst>
              <a:gd name="adj" fmla="val 5745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697480"/>
            <a:ext cx="10552176" cy="68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for cat in totals: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print(cat, round(totals[cat] / counts[cat]))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698240"/>
            <a:ext cx="10881360" cy="614680"/>
          </a:xfrm>
          <a:prstGeom prst="roundRect">
            <a:avLst>
              <a:gd name="adj" fmla="val 8926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3835400"/>
            <a:ext cx="10552176" cy="34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パン 182 / 軽食 162 / 飲み物 118 / 文具 113 / 日用品 285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4495800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round(...)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は四捨五入。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日用品だけ、ずいぶん高いですね。</a:t>
            </a:r>
            <a:endParaRPr lang="en-US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日用品は本当に高い？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0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安い順に見ると </a:t>
            </a:r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90 / 110 / 150 / 180 / 200 / 980</a:t>
            </a:r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3292856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980円の折りたたみ傘が1つ</a:t>
            </a:r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、平均を引き上げていました。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4025392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平均だけ見ると、まちがえます。</a:t>
            </a:r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中身を見にいく。</a:t>
            </a:r>
            <a:endParaRPr lang="en-US" sz="2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41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003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B4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ページの外へ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36347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リンクをたどってみる</a:t>
            </a:r>
            <a:endParaRPr lang="en-US" sz="2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ステップ6：リンクをたどる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22856"/>
            <a:ext cx="10881360" cy="92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一覧ページには 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在庫が載っていません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在庫は、商品ごとの詳細ページにあります。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3095752"/>
            <a:ext cx="10881360" cy="614680"/>
          </a:xfrm>
          <a:prstGeom prst="roundRect">
            <a:avLst>
              <a:gd name="adj" fmla="val 8926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3232912"/>
            <a:ext cx="10552176" cy="34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href = item.find("a", class_="item-link").get("href")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893312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.get("href")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で 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属性の中身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を取り出します。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557776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あとは、そのアドレスをまた </a:t>
            </a:r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requests.get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するだけ。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5222240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やることはステップ1と同じです。</a:t>
            </a:r>
            <a:endParaRPr lang="en-US" sz="2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5つの商品を、順番に見にいく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76780"/>
            <a:ext cx="10881360" cy="1635760"/>
          </a:xfrm>
          <a:prstGeom prst="roundRect">
            <a:avLst>
              <a:gd name="adj" fmla="val 3354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313940"/>
            <a:ext cx="10552176" cy="136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for item in items[:5]: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...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print(name, ":", stock)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time.sleep(1)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995420"/>
            <a:ext cx="10881360" cy="92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items[:5]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は「最初の5商品だけ」。
</a:t>
            </a:r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time.sleep(1)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は「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1秒待つ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」。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5068316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実行すると、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5秒くらい待たされます。</a:t>
            </a:r>
            <a:endParaRPr lang="en-US" sz="2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41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003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B4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ちょっと大事な話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36347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使い方について</a:t>
            </a:r>
            <a:endParaRPr lang="en-US" sz="2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さっきの5秒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0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5個の商品を見にいくのに、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5秒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かかりましたね。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224784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あれは、わざと 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1秒ずつ待つように書いてあります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3889248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待たなければ、一瞬で終わったはずです。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553712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なぜ、わざわざ待たせていると思いますか？</a:t>
            </a:r>
            <a:endParaRPr lang="en-US" sz="2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向こう側にもコンピュータがある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53412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みんなが見ていたページは、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817876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どこかのコンピュータが動いて返してくれています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3482340"/>
            <a:ext cx="10561320" cy="463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●"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1回のアクセス → なんともない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3982212"/>
            <a:ext cx="10561320" cy="463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●"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待たずに30回、300回、3000回 → ？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4482084"/>
            <a:ext cx="10561320" cy="463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●"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しかも、この教室には20人います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5091684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20人 × 3000回 が一斉に来たら、どうなるでしょう。</a:t>
            </a:r>
            <a:endParaRPr lang="en-US" sz="2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攻撃するつもりがなくても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51456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結果として攻撃になってしまう</a:t>
            </a:r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ことがあります。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983992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だから今日は、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3716528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先生が用意した練習用のサイト</a:t>
            </a:r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を使いました。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4449064"/>
            <a:ext cx="10881360" cy="10627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よそのお店のサイトで練習したら、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それだけで迷惑になるからです。</a:t>
            </a:r>
            <a:endParaRPr lang="en-US" sz="2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判断するための3つの目安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57780"/>
          <a:ext cx="10881360" cy="914400"/>
        </p:xfrm>
        <a:graphic>
          <a:graphicData uri="http://schemas.openxmlformats.org/drawingml/2006/table">
            <a:tbl>
              <a:tblPr/>
              <a:tblGrid>
                <a:gridCol w="1937776"/>
                <a:gridCol w="8943584"/>
              </a:tblGrid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見るもの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何が分かるか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利用規約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「自動で集めてはいけない」と書いてあることがある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robots.txt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機械向けの「入っていい／だめ」の案内板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間隔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1回ごとに1秒あける。急ぐ理由はたいていない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687316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https://例.com/robots.txt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で誰でも見られます。</a:t>
            </a:r>
            <a:endParaRPr lang="en-US" sz="2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同じコードが、道具にも迷惑にもなる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443353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今日みんなが書いたコードは、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3175889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あと1文字変えるだけで</a:t>
            </a:r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、よそのサイトに向けられます。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3908425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分けているのは技術ではなく、</a:t>
            </a:r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</a:t>
            </a:r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です。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4640961"/>
            <a:ext cx="91440" cy="660654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640961"/>
            <a:ext cx="10607040" cy="66065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3F3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できるようになった、というのはそういうことです。</a:t>
            </a:r>
            <a:endParaRPr lang="en-US" sz="2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41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003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B4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36347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本物のページに触ってみる</a:t>
            </a:r>
            <a:endParaRPr lang="en-US" sz="2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ステップ7：本物のページに触る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0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ここまでは、</a:t>
            </a:r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授業用に用意したきれいなページ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でした。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224784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わざわざ </a:t>
            </a:r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item-name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などの名札が付けてありました。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3889248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本物のページには、そんな親切はありません。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553712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Wikipedia の記事で試してみましょう。</a:t>
            </a:r>
            <a:endParaRPr lang="en-US" sz="2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id</a:t>
            </a:r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＝ ページに1つだけの名札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560320"/>
            <a:ext cx="10881360" cy="614680"/>
          </a:xfrm>
          <a:prstGeom prst="roundRect">
            <a:avLst>
              <a:gd name="adj" fmla="val 8926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697480"/>
            <a:ext cx="10552176" cy="34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print(wiki.find("h1", id="firstHeading").text)</a:t>
            </a:r>
            <a:endParaRPr lang="en-US" sz="20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57880"/>
          <a:ext cx="10881360" cy="914400"/>
        </p:xfrm>
        <a:graphic>
          <a:graphicData uri="http://schemas.openxmlformats.org/drawingml/2006/table">
            <a:tbl>
              <a:tblPr/>
              <a:tblGrid>
                <a:gridCol w="1120901"/>
                <a:gridCol w="9760459"/>
              </a:tblGrid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意味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9A6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class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同じ仲間が何個もある印（商品30個ぜんぶ item）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id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A15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ページに1個しかない印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4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本物は、ほしいものだけ並べてくれない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44268"/>
            <a:ext cx="10881360" cy="955040"/>
          </a:xfrm>
          <a:prstGeom prst="roundRect">
            <a:avLst>
              <a:gd name="adj" fmla="val 5745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281428"/>
            <a:ext cx="10552176" cy="68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for h in wiki.find_all("h2"):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print(h.text)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282188"/>
            <a:ext cx="10881360" cy="1635760"/>
          </a:xfrm>
          <a:prstGeom prst="roundRect">
            <a:avLst>
              <a:gd name="adj" fmla="val 3354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3419348"/>
            <a:ext cx="10552176" cy="136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目次          ← これは記事の見出しじゃない！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名称の由来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歴史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...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5100828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いらないものが混ざるのが普通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です。</a:t>
            </a:r>
            <a:endParaRPr lang="en-US" sz="2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取ったあとに「掃除」が要る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322576"/>
            <a:ext cx="10881360" cy="614680"/>
          </a:xfrm>
          <a:prstGeom prst="roundRect">
            <a:avLst>
              <a:gd name="adj" fmla="val 8926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459736"/>
            <a:ext cx="10552176" cy="34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メロンパンとは、日本発祥の菓子パンの一種。……[1][2][3]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120136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[1]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は脚注の印で、</a:t>
            </a:r>
            <a:pPr indent="0" marL="0">
              <a:buNone/>
            </a:pPr>
            <a:r>
              <a:rPr lang="en-US" sz="24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&lt;sup&gt;</a:t>
            </a:r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というタグに入っています。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3784600"/>
            <a:ext cx="10881360" cy="955040"/>
          </a:xfrm>
          <a:prstGeom prst="roundRect">
            <a:avLst>
              <a:gd name="adj" fmla="val 5745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921760"/>
            <a:ext cx="10552176" cy="68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for sup in first.find_all("sup"):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sup.decompose()      # そのタグをまるごと消す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4922520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本物のスクレイピングは、掃除が仕事の大半です。</a:t>
            </a:r>
            <a:endParaRPr lang="en-US" sz="2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そもそも入口が用意されていることも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47342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Wikipedia には、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579878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データを渡すための入口（API）</a:t>
            </a:r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があります。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3312414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 をむしるのではなく、そちらに聞く。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4044950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掃除の必要がない、きれいなデータが返ってきます。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4777486"/>
            <a:ext cx="91440" cy="112014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777486"/>
            <a:ext cx="10607040" cy="11201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3F3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相手が入口を用意しているなら、そっちを使うほうが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3F3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速いし、相手にもやさしい。</a:t>
            </a:r>
            <a:endParaRPr lang="en-US" sz="27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名乗らないと、入れてもらえない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218944"/>
            <a:ext cx="10881360" cy="1295400"/>
          </a:xfrm>
          <a:prstGeom prst="roundRect">
            <a:avLst>
              <a:gd name="adj" fmla="val 4235"/>
            </a:avLst>
          </a:prstGeom>
          <a:solidFill>
            <a:srgbClr val="FFFFFF"/>
          </a:solidFill>
          <a:ln w="12700">
            <a:solidFill>
              <a:srgbClr val="C7B4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356104"/>
            <a:ext cx="10552176" cy="1021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headers = {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"User-Agent": "授業用/1.0 (連絡先) requests"</a:t>
            </a:r>
            <a:endParaRPr lang="en-US" sz="2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A151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}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697224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Wikipedia は「どこの誰が何のために来たのか」を求めています。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361688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名乗らずにアクセスすると `403`（お断り）が返ります。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5026152"/>
            <a:ext cx="10881360" cy="518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人間の世界と同じですね。</a:t>
            </a:r>
            <a:endParaRPr lang="en-US" sz="2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8A4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1088136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74952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きょうやったことは、たった3つのくり返しでした。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507488"/>
            <a:ext cx="10881360" cy="1539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</a:t>
            </a:r>
            <a:pPr indent="0" marL="0">
              <a:buNone/>
            </a:pPr>
            <a:r>
              <a:rPr lang="en-US" sz="28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requests.get(...)</a:t>
            </a:r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で </a:t>
            </a:r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取ってくる</a:t>
            </a:r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BeautifulSoup(...)</a:t>
            </a:r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で </a:t>
            </a:r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分解する</a:t>
            </a:r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find</a:t>
            </a:r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/ </a:t>
            </a:r>
            <a:pPr indent="0" marL="0">
              <a:buNone/>
            </a:pPr>
            <a:r>
              <a:rPr lang="en-US" sz="2800" dirty="0">
                <a:solidFill>
                  <a:srgbClr val="6B3A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find_all</a:t>
            </a:r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で </a:t>
            </a:r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探す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4193032"/>
            <a:ext cx="10881360" cy="586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そのあとは </a:t>
            </a:r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選ぶ・ならべる・数える</a:t>
            </a:r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。ふつうの計算です。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4925568"/>
            <a:ext cx="10881360" cy="10627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相手のサイトが変わっても、やることは同じ。違うのは </a:t>
            </a:r>
            <a:pPr indent="0" marL="0">
              <a:buNone/>
            </a:pPr>
            <a:r>
              <a:rPr lang="en-US" sz="2800" b="1" dirty="0">
                <a:solidFill>
                  <a:srgbClr val="9E1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「どこを探すか」</a:t>
            </a:r>
            <a:pPr indent="0" marL="0">
              <a:buNone/>
            </a:pPr>
            <a:r>
              <a:rPr lang="en-US" sz="2800" dirty="0">
                <a:solidFill>
                  <a:srgbClr val="1A1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だけ。</a:t>
            </a:r>
            <a:endParaRPr lang="en-US" sz="2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06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917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おつかれさまでした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40080" y="37261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自分だったら、何を取り出してみたいですか？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Webページから情報を取り出してみよう</dc:title>
  <dc:subject>PptxGenJS Presentation</dc:subject>
  <dc:creator>PptxGenJS</dc:creator>
  <cp:lastModifiedBy>PptxGenJS</cp:lastModifiedBy>
  <cp:revision>1</cp:revision>
  <dcterms:created xsi:type="dcterms:W3CDTF">2020-01-01T00:00:00Z</dcterms:created>
  <dcterms:modified xsi:type="dcterms:W3CDTF">2020-01-01T00:00:00Z</dcterms:modified>
</cp:coreProperties>
</file>