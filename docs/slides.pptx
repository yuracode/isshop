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06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Webページから情報を取り出してみよう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はじめてのプログラミング / スクレイピング体験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きょうのゴール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43353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Webページに並んでいる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30個の商品の名前と値段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175889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プログラムに読ませて、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一瞬で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全部並べます。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908425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安い順にならべたり、平均を出したり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します。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4640961"/>
            <a:ext cx="91440" cy="660654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640961"/>
            <a:ext cx="10607040" cy="66065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手で写したら10分。プログラムなら1秒。</a:t>
            </a:r>
            <a:endParaRPr lang="en-US"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覚えることは、たった3つ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25548"/>
          <a:ext cx="10881360" cy="914400"/>
        </p:xfrm>
        <a:graphic>
          <a:graphicData uri="http://schemas.openxmlformats.org/drawingml/2006/table">
            <a:tbl>
              <a:tblPr/>
              <a:tblGrid>
                <a:gridCol w="903942"/>
                <a:gridCol w="3897429"/>
                <a:gridCol w="607998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やること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取ってくる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requests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分解する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BeautifulSoup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探す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 / find_all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3550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これだけです。文法は覚えなくて大丈夫。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50195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「動いた」を積み重ねるのが今日の目的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きょうの道具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409444"/>
            <a:ext cx="10561320" cy="8717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Google Colaboratory（Colab）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ブラウザだけで Python が動く。インストール不要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331774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requests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ページを取ってくる係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817620"/>
            <a:ext cx="10561320" cy="8717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BeautifulSoup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取ってきたページをバラバラに分解して、探しやすくする係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8356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準備はゼロ。ノートブックを開くだけです。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Webページの正体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ブラウザが見せているもの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3149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みんながいつも見ているのは、こういう画面ですね。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60120" y="2695956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見出しがあって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19582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写真があって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695700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文章があって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4195572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押すと飛ぶリンクがある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805172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でも、コンピュータはこれを「絵」として持っているわけではありません。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正体は、ぜんぶ「文字」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Webページは、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全部が文字で書かれた設計図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292856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ブラウザは、その設計図を読んで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「じゃあこう表示しよう」と絵にしてくれているだけ。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50189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その設計図の名前が HTML です。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を見てみると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47062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84222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サイバー購買部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&lt;/h1&gt;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きょうの商品ラインナップ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28498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これがブラウザではこう見えます。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949446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949446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# サイバー購買部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きょうの商品ラインナップ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40080" y="509803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同じものです。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書き方が違うだけ。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タグ＝「ここは○○ですよ」という印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5900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9616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サイバー購買部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&lt;/h1&gt;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956560"/>
          <a:ext cx="10881360" cy="914400"/>
        </p:xfrm>
        <a:graphic>
          <a:graphicData uri="http://schemas.openxmlformats.org/drawingml/2006/table">
            <a:tbl>
              <a:tblPr/>
              <a:tblGrid>
                <a:gridCol w="3627120"/>
                <a:gridCol w="2072640"/>
                <a:gridCol w="5181600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名前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開始タグ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ここから見出しです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実際に表示される文字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&lt;/h1&gt;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終了タグ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見出しはここまで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8609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 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で囲まれたものが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。閉じるほうには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`/`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が付きます。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タグの中に、タグが入る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716532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871980"/>
            <a:ext cx="36576" cy="1324864"/>
          </a:xfrm>
          <a:prstGeom prst="roundRect">
            <a:avLst>
              <a:gd name="adj" fmla="val 50000"/>
            </a:avLst>
          </a:prstGeom>
          <a:solidFill>
            <a:srgbClr val="B23A00"/>
          </a:solidFill>
          <a:ln w="12700">
            <a:solidFill>
              <a:srgbClr val="B23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53692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150円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53517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同じ色が、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開きタグと閉じタグのペア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です。左の縦線が1組の範囲。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19963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箱の中に、箱が入っている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イメージです。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86410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入れ子（いれこ）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と呼びます。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552856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今日はこの「箱」を目印にして、ほしいものを探します。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①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53564"/>
          <a:ext cx="10881360" cy="914400"/>
        </p:xfrm>
        <a:graphic>
          <a:graphicData uri="http://schemas.openxmlformats.org/drawingml/2006/table">
            <a:tbl>
              <a:tblPr/>
              <a:tblGrid>
                <a:gridCol w="1919000"/>
                <a:gridCol w="2635988"/>
                <a:gridCol w="6326372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ブラウザのタブに出る名前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エイチワン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ページで一番大きい見出し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&lt;h2&gt;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エイチツー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その次の見出し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8310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heading（見出し）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数字が小さいほど大きい見出しです。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&lt;title&gt;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 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&lt;h1&gt;</a:t>
            </a:r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はちがう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49754"/>
          <a:ext cx="10881360" cy="914400"/>
        </p:xfrm>
        <a:graphic>
          <a:graphicData uri="http://schemas.openxmlformats.org/drawingml/2006/table">
            <a:tbl>
              <a:tblPr/>
              <a:tblGrid>
                <a:gridCol w="1787371"/>
                <a:gridCol w="3437253"/>
                <a:gridCol w="5656736"/>
              </a:tblGrid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出る場所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購買部サイトでは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ブラウザのタブ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&lt;h1&gt;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ページの中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</a:t>
                      </a:r>
                      <a:endParaRPr lang="en-US" sz="2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09473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同じページなのに、中身が違います。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40080" y="482727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あとで実際に両方取って、違いを確かめます。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②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53564"/>
          <a:ext cx="10881360" cy="914400"/>
        </p:xfrm>
        <a:graphic>
          <a:graphicData uri="http://schemas.openxmlformats.org/drawingml/2006/table">
            <a:tbl>
              <a:tblPr/>
              <a:tblGrid>
                <a:gridCol w="1534803"/>
                <a:gridCol w="1475772"/>
                <a:gridCol w="7870785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読み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何を表すか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&lt;p&gt;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ピー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段落。ふつうの文章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&lt;div&gt;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ディブ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ただの箱。まとめるための入れもの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&lt;span&gt;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スパン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文の中の一部分を囲む小さい印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48310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paragraph（段落）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division（区切り）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は「箱」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463040"/>
            <a:ext cx="10881360" cy="2861056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1618488"/>
            <a:ext cx="36576" cy="1256792"/>
          </a:xfrm>
          <a:prstGeom prst="roundRect">
            <a:avLst>
              <a:gd name="adj" fmla="val 50000"/>
            </a:avLst>
          </a:prstGeom>
          <a:solidFill>
            <a:srgbClr val="B23A00"/>
          </a:solidFill>
          <a:ln w="12700">
            <a:solidFill>
              <a:srgbClr val="B23A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2911856"/>
            <a:ext cx="36576" cy="1256792"/>
          </a:xfrm>
          <a:prstGeom prst="roundRect">
            <a:avLst>
              <a:gd name="adj" fmla="val 50000"/>
            </a:avLst>
          </a:prstGeom>
          <a:solidFill>
            <a:srgbClr val="6B2FA0"/>
          </a:solidFill>
          <a:ln w="12700">
            <a:solidFill>
              <a:srgbClr val="6B2F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600200"/>
            <a:ext cx="10552176" cy="258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150円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焼きそばパン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180円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45069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自体は何も表示しません。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17144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「ここからここまでが1セット」とまとめるだけ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" y="583590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 =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1つ。今日いちばん大事な考え方です。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は「文の中の一部」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80717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17877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&lt;p&gt;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&lt;/span&gt;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円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978277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150円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42741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で囲んであるおかげで、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30720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 の部分だけ」を狙って取り出せる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ようになります。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40080" y="4971669"/>
            <a:ext cx="91440" cy="59258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971669"/>
            <a:ext cx="10607040" cy="59258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あとで効いてきます。覚えておいてください。</a:t>
            </a:r>
            <a:endParaRPr lang="en-US" sz="2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きょう出てくるタグ ③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07010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0726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 href="items/item01.html"&gt;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くわしく見る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&lt;/a&gt;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86766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（anchor＝いかり、の a）。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532124"/>
          <a:ext cx="1088136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6217920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部分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くわしく見る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画面に出る文字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href="..."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飛び先のアドレス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17499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のような、タグに付ける追加情報を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といいます。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 ＝ 名札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8069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785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 class="item-name"&gt;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7825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&lt;h2&gt;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はページ中にたくさんあります。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そのままだと「どの h2 ？」と区別がつきません。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9872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名札（class）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を付けておきます。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4719828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「item-name という名札の付いた h2 を全部持ってきて」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と頼めるようになります。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商品1つ分の中身（これが今日の地図）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62251"/>
            <a:ext cx="10881360" cy="2537714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2417699"/>
            <a:ext cx="36576" cy="2226818"/>
          </a:xfrm>
          <a:prstGeom prst="roundRect">
            <a:avLst>
              <a:gd name="adj" fmla="val 50000"/>
            </a:avLst>
          </a:prstGeom>
          <a:solidFill>
            <a:srgbClr val="B23A00"/>
          </a:solidFill>
          <a:ln w="12700">
            <a:solidFill>
              <a:srgbClr val="B23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399411"/>
            <a:ext cx="10552176" cy="22633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 class="item-icon"&gt;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🍈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&lt;h2 class="item-name"&gt;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&lt;/h2&gt;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 class="item-category"&gt;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パン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6B2FA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 class="item-price-line"&gt;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0B5A9E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&lt;/span&gt;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円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&lt;a  class="item-link" href="items/item01.html"&gt;</a:t>
            </a:r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くわしく見る</a:t>
            </a:r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16B3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&lt;/a&gt;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&lt;/div&gt;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498284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このかたまりが、30個くり返されています。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名札の一覧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60016"/>
          <a:ext cx="10881360" cy="914400"/>
        </p:xfrm>
        <a:graphic>
          <a:graphicData uri="http://schemas.openxmlformats.org/drawingml/2006/table">
            <a:tbl>
              <a:tblPr/>
              <a:tblGrid>
                <a:gridCol w="3095875"/>
                <a:gridCol w="5037667"/>
                <a:gridCol w="2747818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使うステップ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商品1つ分の箱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item-name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item-price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値段の数字だけ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item-category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item-link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詳細ページへのリンク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item-stock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在庫（詳細ページだけ）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なぜ「150」と「円」が分けてある？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98069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1785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150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&lt;/span&gt;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円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7825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の中は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数字だけ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。「円」は外に出してあります。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987292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もし 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&lt;span class="item-price"&gt;150円&lt;/span&gt;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だったら、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取れるのは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「150円」という文字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519633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文字のままでは、大小をくらべられません。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検証ツールで本物を見てみよう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243582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サイトを開く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1560" y="2743454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右クリック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検証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（または F12）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51560" y="3243326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出てきたパネルが、そのページの HTML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85292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&lt;div class="item"&gt;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が並んでいるのが見えます。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0080" y="4517390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517390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全部わからなくて大丈夫。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「文字で書いてあるんだな」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が分かればOKです。</a:t>
            </a:r>
            <a:endParaRPr lang="en-US" sz="2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ステップ0：まず相手を見る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033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コードを書く前に、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読ませたいページを自分の目で見る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0678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https://yuracode.github.io/isshop/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732276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 / 軽食 / 飲み物 / 文具 / 日用品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4232148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ぜんぶで30商品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8417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これが今日いちばん大事な順番です。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ステップ1：ページのタイトルを取る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62251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やることは3つ。さっきの3つと同じです。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926715"/>
            <a:ext cx="10881360" cy="2537714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063875"/>
            <a:ext cx="10552176" cy="22633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 = requests.get(BASE_URL)      # ① 取ってくる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res.encoding = "utf-8"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html = res.text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soup = BeautifulSoup(html, "html.parser")   # ② 分解する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print(soup.title.text)            # ③ 探す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を付けると中身だけ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68880"/>
          <a:ext cx="10881360" cy="914400"/>
        </p:xfrm>
        <a:graphic>
          <a:graphicData uri="http://schemas.openxmlformats.org/drawingml/2006/table">
            <a:tbl>
              <a:tblPr/>
              <a:tblGrid>
                <a:gridCol w="3129595"/>
                <a:gridCol w="7751765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書き方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出てくるもの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&lt;title&gt;サイバー購買部 商品一覧&lt;/title&gt;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soup.title.text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サイバー購買部 商品一覧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1117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タグごと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かの違いです。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47762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ほしいのは中身なので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.text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を付けます。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やってみよう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print(soup.h1.text)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578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title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h1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に変えるだけ。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022344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さっき説明した「title と h1 は違う」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を、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自分の目で確かめてください。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ステップ2：商品名を全部ならべる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688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商品は30個。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30回コピペするのは嫌ですね。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13334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を使います。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97808"/>
          <a:ext cx="10881360" cy="914400"/>
        </p:xfrm>
        <a:graphic>
          <a:graphicData uri="http://schemas.openxmlformats.org/drawingml/2006/table">
            <a:tbl>
              <a:tblPr/>
              <a:tblGrid>
                <a:gridCol w="2886891"/>
                <a:gridCol w="799446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命令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最初の1つだけ持ってくる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find_all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全部まとめて持ってくる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箱を全部持ってくる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38553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75713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 = soup.find_all("div", class_="item")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print(len(items))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276473"/>
            <a:ext cx="91440" cy="59258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276473"/>
            <a:ext cx="10607040" cy="59258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div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のうち、</a:t>
            </a:r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という名札が付いているものを全部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640080" y="4033647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len(...)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は個数を数える命令。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と出れば成功です。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4698111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class_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のうしろの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_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を忘れずに。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（Python では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class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が別の意味で使われているため）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箱の中から名前を取り出す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772666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909826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= item.find("h2", class_="item-name")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print(name.text)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250946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ぜんぶに対して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、1つずつ」。取り出した1個が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4323842"/>
            <a:ext cx="91440" cy="983996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323842"/>
            <a:ext cx="10607040" cy="9839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30個の箱を1つずつ順番に開けて、</a:t>
            </a:r>
            <a:endParaRPr lang="en-US" sz="2300" dirty="0"/>
          </a:p>
          <a:p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その中から </a:t>
            </a:r>
            <a:pPr indent="0" marL="0">
              <a:buNone/>
            </a:pPr>
            <a:r>
              <a:rPr lang="en-US" sz="23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3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の h2 を探して、中身を表示する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640080" y="547243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30行、ずらっと出ます。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ステップ3：値段も取る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7436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名札を変えるだけです。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2338832"/>
            <a:ext cx="10881360" cy="1976120"/>
          </a:xfrm>
          <a:prstGeom prst="roundRect">
            <a:avLst>
              <a:gd name="adj" fmla="val 277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475992"/>
            <a:ext cx="10552176" cy="170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  class_="item-name").text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item.find("span", class_="item-price").text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price)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# print(price * 2)     ← 2個分の値段になる？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497832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h2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span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item-price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新しいことは何もしていません。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57072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最後の行の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#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を外すと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`150150`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。まだ「文字」だからです。</a:t>
            </a:r>
            <a:endParaRPr lang="en-US" sz="2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文字の150 と 数の150 は別物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54504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91664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price_text = "150"    # ← 文字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     = 150      # ← 数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9242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画面には同じに見えます。でもコンピュータには別物。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12496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文字のままだと足し算も比較もできません。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4857496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994656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 = int(price_text)   # 文字 → 数 に変換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一番安い商品を探す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考え方を日本語で言うと、こうです。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51560" y="3224784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「いままでで一番安い値段」を覚えておく箱を用意する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51560" y="3724656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上から順に見ていく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51560" y="4224528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覚えている値段より安かったら、覚えなおす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51560" y="4724400"/>
            <a:ext cx="1046988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4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最後まで見たら、覚えているのが最安値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コードにするとこれだけ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092071"/>
            <a:ext cx="10881360" cy="2878074"/>
          </a:xfrm>
          <a:prstGeom prst="roundRect">
            <a:avLst>
              <a:gd name="adj" fmla="val 190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29231"/>
            <a:ext cx="10552176" cy="26037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cheapest_name  = ""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cheapest_price = 99999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if price &lt; cheapest_price: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cheapest_price = price</a:t>
            </a:r>
            <a:endParaRPr lang="en-US" sz="17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7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cheapest_name  = name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153025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99999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は「最初はありえない大きな数」を置いておくため。</a:t>
            </a:r>
            <a:endParaRPr lang="en-US" sz="2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できました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一番安いのは クリアファイル で 80 円です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35788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30個の中から、一瞬で見つかりました。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09041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ここからは、取ったデータを使ってみます。</a:t>
            </a:r>
            <a:endParaRPr lang="en-US" sz="2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ステップ4：ほしいものだけ選ぶ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30個ぜんぶ出てきても、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多すぎて選べません。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「120円以下だけ」「安い順に5つ」で見たいですよね。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取ってから、選ぶ。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ここからがデータの使いかたです。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「もし〜なら」で選ぶ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10816"/>
            <a:ext cx="10881360" cy="1976120"/>
          </a:xfrm>
          <a:prstGeom prst="roundRect">
            <a:avLst>
              <a:gd name="adj" fmla="val 277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47976"/>
            <a:ext cx="10552176" cy="170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if price &lt;= 120: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print(name, price)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3698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if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もし〜なら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」。条件に合うときだけ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します。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03428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&lt;=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は「以下」。30個が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にしぼれます。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安い順にならべる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564132"/>
            <a:ext cx="10881360" cy="2861056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701292"/>
            <a:ext cx="10552176" cy="258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prices = []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name  = item.find("h2", class_="item-name").text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prices.append((price, name))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prices.sort()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460806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append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後ろに足す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sort()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小さい順にならべる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272532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(price, name)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2つで1組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sort()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は組の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左から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くらべるので、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値段を先に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安いほうから5つ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463040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00200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price, name in prices[:5]: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print(price, name)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2600960"/>
            <a:ext cx="10881360" cy="1976120"/>
          </a:xfrm>
          <a:prstGeom prst="roundRect">
            <a:avLst>
              <a:gd name="adj" fmla="val 277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738120"/>
            <a:ext cx="10552176" cy="170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80 クリアファイル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90 使い捨てカイロ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90 消しゴム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100 シャープペンの芯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100 炭酸水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75996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price, name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と2つ書くと、組の左が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、右が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name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に入ります。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83285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prices[:5]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最初の5つだけ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」。ステップ6でもまた出てきます。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ステップ5：カテゴリごとに数える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商品には、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カテゴリの名札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も付いています。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3224784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361944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&lt;p class="item-category"&gt;</a:t>
            </a:r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パン</a:t>
            </a:r>
            <a:pPr indent="0" marL="0">
              <a:lnSpc>
                <a:spcPct val="106000"/>
              </a:lnSpc>
              <a:buNone/>
            </a:pPr>
            <a:r>
              <a:rPr lang="en-US" sz="2000" b="1" dirty="0">
                <a:solidFill>
                  <a:srgbClr val="B2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&lt;/p&gt;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02234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パンは平均いくら？ 飲み物は？ —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プログラムに数えさせます。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同じ名札ごとに、まとめる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768348"/>
            <a:ext cx="10881360" cy="2861056"/>
          </a:xfrm>
          <a:prstGeom prst="roundRect">
            <a:avLst>
              <a:gd name="adj" fmla="val 1918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905508"/>
            <a:ext cx="10552176" cy="258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totals = {}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counts = {}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items: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cat   = item.find("p", class_="item-category").text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price = int(item.find("span", class_="item-price").text)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totals[cat] = totals.get(cat, 0) + price</a:t>
            </a:r>
            <a:endParaRPr lang="en-US" sz="19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9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counts[cat] = counts.get(cat, 0) + 1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48122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{}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辞書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名前で覚えておく入れもの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4767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「パン → 合計1090」「飲み物 → 合計710」のように覚えていきます。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平均を出す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18360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55520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cat in totals: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print(cat, round(totals[cat] / counts[cat]))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25628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39344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パン 182 / 軽食 162 / 飲み物 118 / 文具 113 / 日用品 285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05384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cat in totals: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は「辞書の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名札を1つずつ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round(...)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は四捨五入。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12673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日用品だけ、ずいぶん高いですね。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日用品は本当に高い？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安い順に見ると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90 / 110 / 150 / 180 / 200 / 980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29285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980円の折りたたみ傘が1つ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、平均を引き上げていました。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40253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平均だけ見ると、まちがえます。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中身を見にいく。</a:t>
            </a:r>
            <a:endParaRPr lang="en-US" sz="2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ページの外へ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リンクをたどってみる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ステップ6：リンクをたどる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022856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一覧ページには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在庫が載っていません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在庫は、商品ごとの詳細ページにあります。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3095752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232912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href = item.find("a", class_="item-link").get("href")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8933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.get("href")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属性の中身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を取り出します。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45577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あとは、そのアドレスをまた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するだけ。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22224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やることはステップ1と同じです。</a:t>
            </a:r>
            <a:endParaRPr lang="en-US" sz="2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5つの商品を、順番に見にいく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76780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13940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item in items[:5]: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...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print(name, ":", stock)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time.sleep(1)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995420"/>
            <a:ext cx="10881360" cy="926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items[:5]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は「最初の5商品だけ」。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time.sleep(1)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は「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1秒待つ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0683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実行すると、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5秒くらい待たされます。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ちょっと大事な話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使い方について</a:t>
            </a:r>
            <a:endParaRPr lang="en-US" sz="2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さっきの5秒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5個の商品を見にいくのに、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5秒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かかりましたね。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あれは、わざと 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1秒ずつ待つように書いてあります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待たなければ、一瞬で終わったはずです。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537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なぜ、わざわざ待たせていると思いますか？</a:t>
            </a:r>
            <a:endParaRPr lang="en-US" sz="2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向こう側にもコンピュータがある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534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みんなが見ていたページは、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281787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どこかのコンピュータが動いて返してくれています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60120" y="3482340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1回のアクセス → なんともない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982212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待たずに30回、300回、3000回 → ？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4482084"/>
            <a:ext cx="10561320" cy="46329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しかも、この教室には20人います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50916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20人 × 3000回 が一斉に来たら、どうなるでしょう。</a:t>
            </a:r>
            <a:endParaRPr lang="en-US" sz="2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攻撃するつもりがなくても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251456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結果として攻撃になってしまう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ことがあります。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98399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だから今日は、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716528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先生が用意した練習用のサイト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を使いました。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449064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よそのお店のサイトで練習したら、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それだけで迷惑になるからです。</a:t>
            </a:r>
            <a:endParaRPr lang="en-US" sz="2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判断するための3つの目安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557780"/>
          <a:ext cx="10881360" cy="914400"/>
        </p:xfrm>
        <a:graphic>
          <a:graphicData uri="http://schemas.openxmlformats.org/drawingml/2006/table">
            <a:tbl>
              <a:tblPr/>
              <a:tblGrid>
                <a:gridCol w="1937776"/>
                <a:gridCol w="8943584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見るもの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何が分かるか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利用規約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「自動で集めてはいけない」と書いてあることがある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robots.txt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機械向けの「入っていい／だめ」の案内板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間隔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1回ごとに1秒あける。急ぐ理由はたいていない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68731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https://例.com/robots.txt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で誰でも見られます。</a:t>
            </a:r>
            <a:endParaRPr lang="en-US" sz="2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同じコードが、道具にも迷惑にもなる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443353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今日みんなが書いたコードは、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3175889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あと1文字変えるだけで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、よそのサイトに向けられます。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908425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分けているのは技術ではなく、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4640961"/>
            <a:ext cx="91440" cy="660654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640961"/>
            <a:ext cx="10607040" cy="66065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できるようになった、というのはそういうことです。</a:t>
            </a:r>
            <a:endParaRPr lang="en-US" sz="27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41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003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45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発展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36347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本物のページに触ってみる</a:t>
            </a:r>
            <a:endParaRPr lang="en-US" sz="2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ステップ7：本物のページに触る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ここまでは、</a:t>
            </a:r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授業用に用意したきれいなページ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でした。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40080" y="322478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わざわざ 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item-name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などの名札が付けてありました。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88924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本物のページには、そんな親切はありません。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5371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の記事で試してみましょう。</a:t>
            </a:r>
            <a:endParaRPr lang="en-US" sz="2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id</a:t>
            </a:r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＝ ページに1つだけの名札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560320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697480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print(wiki.find("h1", id="firstHeading").text)</a:t>
            </a:r>
            <a:endParaRPr lang="en-US" sz="2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357880"/>
          <a:ext cx="10881360" cy="914400"/>
        </p:xfrm>
        <a:graphic>
          <a:graphicData uri="http://schemas.openxmlformats.org/drawingml/2006/table">
            <a:tbl>
              <a:tblPr/>
              <a:tblGrid>
                <a:gridCol w="1120901"/>
                <a:gridCol w="9760459"/>
              </a:tblGrid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意味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D9A6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同じ仲間が何個もある印（商品30個ぜんぶ item）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66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id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A151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ページに1個しかない印</a:t>
                      </a:r>
                      <a:endParaRPr lang="en-US" sz="2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45720" marR="45720" marT="45720" marB="45720" anchor="ctr">
                    <a:lnL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7B48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本物は、ほしいものだけ並べてくれない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144268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281428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h in wiki.find_all("h2"):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print(h.text)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282188"/>
            <a:ext cx="10881360" cy="1635760"/>
          </a:xfrm>
          <a:prstGeom prst="roundRect">
            <a:avLst>
              <a:gd name="adj" fmla="val 3354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419348"/>
            <a:ext cx="10552176" cy="136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目次          ← これは記事の見出しじゃない！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名称の由来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歴史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...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510082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いらないものが混ざるのが普通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です。</a:t>
            </a:r>
            <a:endParaRPr lang="en-US" sz="2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取ったあとに「掃除」が要る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322576"/>
            <a:ext cx="10881360" cy="614680"/>
          </a:xfrm>
          <a:prstGeom prst="roundRect">
            <a:avLst>
              <a:gd name="adj" fmla="val 8926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459736"/>
            <a:ext cx="10552176" cy="34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メロンパンとは、日本発祥の菓子パンの一種。……[1][2][3]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120136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[1]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は脚注の印で、</a:t>
            </a:r>
            <a:pPr indent="0" marL="0">
              <a:buNone/>
            </a:pPr>
            <a:r>
              <a:rPr lang="en-US" sz="24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&lt;sup&gt;</a:t>
            </a:r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というタグに入っています。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784600"/>
            <a:ext cx="10881360" cy="955040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921760"/>
            <a:ext cx="10552176" cy="680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for sup in first.find_all("sup"):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sup.decompose()      # そのタグをまるごと消す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922520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本物のスクレイピングは、掃除が仕事の大半です。</a:t>
            </a:r>
            <a:endParaRPr lang="en-US" sz="2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そもそも入口が用意されていることも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47342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には、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579878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データを渡すための入口（API）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があります。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1241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HTML をむしるのではなく、そちらに聞く。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404495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掃除の必要がない、きれいなデータが返ってきます。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40080" y="4777486"/>
            <a:ext cx="91440" cy="1120140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777486"/>
            <a:ext cx="10607040" cy="11201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相手が入口を用意しているなら、そっちを使うほうが</a:t>
            </a:r>
            <a:endParaRPr lang="en-US" sz="2700" dirty="0"/>
          </a:p>
          <a:p>
            <a:pPr indent="0" marL="0">
              <a:buNone/>
            </a:pPr>
            <a:r>
              <a:rPr lang="en-US" sz="2700" dirty="0">
                <a:solidFill>
                  <a:srgbClr val="3F3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速いし、相手にもやさしい。</a:t>
            </a:r>
            <a:endParaRPr lang="en-US" sz="27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名乗らないと、入れてもらえない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2218944"/>
            <a:ext cx="10881360" cy="1295400"/>
          </a:xfrm>
          <a:prstGeom prst="roundRect">
            <a:avLst>
              <a:gd name="adj" fmla="val 4235"/>
            </a:avLst>
          </a:prstGeom>
          <a:solidFill>
            <a:srgbClr val="FFFFFF"/>
          </a:solidFill>
          <a:ln w="12700">
            <a:solidFill>
              <a:srgbClr val="C7B4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356104"/>
            <a:ext cx="10552176" cy="1021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headers = {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"User-Agent": "授業用/1.0 (連絡先) requests"</a:t>
            </a:r>
            <a:endParaRPr lang="en-US" sz="2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2000" dirty="0">
                <a:solidFill>
                  <a:srgbClr val="1A151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}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697224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Wikipedia は「どこの誰が何のために来たのか」を求めています。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361688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名乗らずにアクセスすると `403`（お断り）が返ります。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5026152"/>
            <a:ext cx="10881360" cy="518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人間の世界と同じですね。</a:t>
            </a:r>
            <a:endParaRPr lang="en-US" sz="2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8A4A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161288"/>
            <a:ext cx="10881360" cy="73152"/>
          </a:xfrm>
          <a:prstGeom prst="rect">
            <a:avLst/>
          </a:prstGeom>
          <a:solidFill>
            <a:srgbClr val="E07B0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10944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きょうやったことは、たった3つのくり返しでした。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051560" y="2443480"/>
            <a:ext cx="10469880" cy="5313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1"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requests.get(...)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取ってくる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51560" y="3011424"/>
            <a:ext cx="10469880" cy="5313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2"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BeautifulSoup(...)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分解する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51560" y="3579368"/>
            <a:ext cx="10469880" cy="5313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buSzPct val="100000"/>
              <a:buFont typeface="+mj-lt"/>
              <a:buAutoNum type="arabicPeriod" startAt="3"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/ </a:t>
            </a:r>
            <a:pPr indent="0" marL="0">
              <a:buNone/>
            </a:pPr>
            <a:r>
              <a:rPr lang="en-US" sz="2800" dirty="0">
                <a:solidFill>
                  <a:srgbClr val="6B3A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find_all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で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探す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4257040"/>
            <a:ext cx="10881360" cy="5862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選ぶ・ならべる・数える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。ふつうの計算です。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40080" y="4989576"/>
            <a:ext cx="10881360" cy="106273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相手のサイトが変わっても、やることは同じ。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違うのは </a:t>
            </a:r>
            <a:pPr indent="0" marL="0">
              <a:buNone/>
            </a:pPr>
            <a:r>
              <a:rPr lang="en-US" sz="2800" b="1" dirty="0">
                <a:solidFill>
                  <a:srgbClr val="9E1B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「どこを探すか」</a:t>
            </a:r>
            <a:pPr indent="0" marL="0">
              <a:buNone/>
            </a:pPr>
            <a:r>
              <a:rPr lang="en-US" sz="2800" dirty="0">
                <a:solidFill>
                  <a:srgbClr val="1A1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だけです。</a:t>
            </a:r>
            <a:endParaRPr lang="en-US" sz="2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066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917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おつかれさまでした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7261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自分だったら、何を取り出してみたいですか？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Webページから情報を取り出してみよう</dc:title>
  <dc:subject>PptxGenJS Presentation</dc:subject>
  <dc:creator>PptxGenJS</dc:creator>
  <cp:lastModifiedBy>PptxGenJS</cp:lastModifiedBy>
  <cp:revision>1</cp:revision>
  <dcterms:created xsi:type="dcterms:W3CDTF">2020-01-01T00:00:00Z</dcterms:created>
  <dcterms:modified xsi:type="dcterms:W3CDTF">2020-01-01T00:00:00Z</dcterms:modified>
</cp:coreProperties>
</file>